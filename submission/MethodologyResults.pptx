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3108960" cy="3108960"/>
          </a:xfrm>
          <a:prstGeom prst="ellipse">
            <a:avLst/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94392" y="44805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000232" y="5577840"/>
            <a:ext cx="1828800" cy="1828800"/>
          </a:xfrm>
          <a:prstGeom prst="ellipse">
            <a:avLst/>
          </a:prstGeom>
          <a:solidFill>
            <a:srgbClr val="6E6B3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 ·  METHODOLOGY &amp; RESULTS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[Thesis Title 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Confirmed]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Benchmark of Cross-Dataset Generalization and Cost-Efficiency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43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Is Solved. The Interesting Questions Are Not.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already shows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transformers, commercial LLMs and well-prompted open models all reach the high eighties to mid-nineties on FR/NFR.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that a model “can classify requirements” is no longer a contribution.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show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7830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result is in-distribution — same corpus for tuning and testing.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model size are rarely reported at all.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of old public corpora is acknowledged but not addressed.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7512" y="3977640"/>
            <a:ext cx="384048" cy="384048"/>
          </a:xfrm>
          <a:prstGeom prst="ellipse">
            <a:avLst/>
          </a:prstGeom>
          <a:solidFill>
            <a:srgbClr val="E8A40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67512" y="39703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In-distribution only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work claiming better generalisability means transfer across tasks on the same two corpora — never unseen corpora.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62272" y="3977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462272" y="39703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 not a dimension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has drifted to large commercial APIs and reports macro-F1 in isolation.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57032" y="3977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257032" y="39703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ageing, imbalanced data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57032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public corpora underlie nearly every published result.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77240" y="574243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reframes a saturated problem around the two axes that decide whether the technique is usable in practice: generalisation and cost.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One Protocol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66420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6642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389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In-domain comparison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5564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open and commercial LLMs compare with fine-tuned encoders on FR/NFR, security, and NFR sub-types?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0" y="1664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reference point.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31272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8A40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3127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852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Generalisation gap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21868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performance degrade under cross-project and cross-dataset evaluation — and does the gap differ by model class?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31272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contribution.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" y="459028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45902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3159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Cost-efficiency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468172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accuracy-versus-cost trade-off, and what is the cheapest free option that reaches acceptable performance?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45902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practitioner’s answer.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806440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77240" y="5907024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answered on the same corpora, the same items and the same scoring rule — so the three answers are directly comparable.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8670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8670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8670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1,412 reqs · 14 frozen split families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48176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20021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225771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25771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25771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RoBERTa · 24,280 preds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65277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37122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842872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2872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binary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42872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 attempted · 35,049 preds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82378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54223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59973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59973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sub-types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59973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16,786 preds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799479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71324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077074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77074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re-parse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77074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· store-preserving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16580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88425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694175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694175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94175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1–11 · figs 1–6 · McNemar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033681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205525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10311276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311276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311276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1–5 · figs 7–10 · break-even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4572000"/>
            <a:ext cx="11183112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777240" y="475488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 every stage writes a versioned artefact that the next stage consumes; every number in the thesis is read from those artefacts — 76,115 predictions in total, scored once, under one protocol.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Corpora, De-Duplicated Before Anything Else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71600"/>
                <a:gridCol w="1051560"/>
                <a:gridCol w="12801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/ NFR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Non-sec.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PROMISE_exp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 / 524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/ 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 / 267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1,479 − 67 dup.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 / 524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 / 1,110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Post-deduplication class counts, from the Stage-1 manifest. Zero duplicate texts across the two corpora.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543800" y="132588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266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prevalence contrast is the pivot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874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 are 12.9% of PROMISE_exp but 39.9% of SecReq — a three-fold difference in base rate between the two corpora describing the same concept.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  12.9%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464040" y="2871216"/>
            <a:ext cx="658368" cy="182880"/>
          </a:xfrm>
          <a:prstGeom prst="roundRect">
            <a:avLst>
              <a:gd name="adj" fmla="val 15000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72668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SecReq      39.9%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464040" y="3236976"/>
            <a:ext cx="2029968" cy="182880"/>
          </a:xfrm>
          <a:prstGeom prst="roundRect">
            <a:avLst>
              <a:gd name="adj" fmla="val 15000"/>
            </a:avLst>
          </a:prstGeom>
          <a:solidFill>
            <a:srgbClr val="E8A40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02920" y="3977640"/>
            <a:ext cx="11183112" cy="2148840"/>
          </a:xfrm>
          <a:prstGeom prst="roundRect">
            <a:avLst>
              <a:gd name="adj" fmla="val 3404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858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NFR sub-types, a very long tail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77440" y="4562856"/>
            <a:ext cx="2926080" cy="118872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349240" y="4526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7457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377440" y="4782312"/>
            <a:ext cx="1989734" cy="118872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4412894" y="47457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965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377440" y="5001768"/>
            <a:ext cx="1802465" cy="118872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225625" y="49651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184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377440" y="5221224"/>
            <a:ext cx="1544970" cy="118872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968130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54041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&amp; feel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377440" y="5440680"/>
            <a:ext cx="1147023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3570183" y="5404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5623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377440" y="5660136"/>
            <a:ext cx="725668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3148828" y="5623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35508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955280" y="4562856"/>
            <a:ext cx="561807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8562807" y="4526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355080" y="47457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955280" y="4782312"/>
            <a:ext cx="514990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8515990" y="47457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355080" y="4965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955280" y="5001768"/>
            <a:ext cx="421356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8422356" y="49651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355080" y="5184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55280" y="5221224"/>
            <a:ext cx="351130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8352130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355080" y="54041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955280" y="5440680"/>
            <a:ext cx="280904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8281904" y="5404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675120" y="5806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 and top-6 variants exist because the tail carries single- and double-digit support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 Folds Across 14 Families, 12 Configurations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In-domain (6 tasks × datasets)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5-fold CV within the corpus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Cross-project (6 tasks × datasets)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unseen project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Leave-one-project-out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fold per PROMISE_exp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(security)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PROMISE_exp ↔ test SecReq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75320" y="132588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45820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means frozen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8745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are generated once (seed 42) and stored as JSON keyed by stable ids over SHA-256-pinned sources, never regenerated. Project grouping (StratifiedGroupKFold) applies to the cross-project families; the in-domain arm is a plain stratified 5-fold, because it is the in-distribution reference the transfer arms are measured against. Fold membership depends on the version of the library that generated it, which is why the split file is never regenerated.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4206240"/>
            <a:ext cx="11183112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by construction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5488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models answer stratified samples of the same test items, so every encoder–LLM comparison is McNemar-paired on identical requirements. Having no training distribution, prompted zero-shot scores are regime-invariant by construction — the encoders’ drop is measured against a baseline that cannot over-fit the source corpus.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Configurations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389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encoders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4081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 (110 M) · RoBERTa-base (125 M)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4708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inverse-frequency class weighting · lr 2×10⁻⁵ · batch 16 · max len 128 · 3 epochs (binary), 10 (sub-types)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852928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962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prompted LLMs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9809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Gemma-2-2B · SmolLM3-3B · Qwen2.5-3B · Phi-4-mini · Qwen2.5-7B · Llama-3.1-8B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4198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on a free T4 · plus hosted Llama-3.3-70B (free API tier)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425696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4535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reference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45537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Flash-Lite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99262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closed weights (parameter count undisclosed — recorded as unknown, not guessed)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998464"/>
            <a:ext cx="11183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ninth prompted model (hosted Nemotron-3-Nano-30B) failed the reportability gate (21 items per cell, below n ≥ 40) — its 63 predictions stay in the raw store but never enter a results table.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Protocol &amp; Strict Parsing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instruction naming the task and the exact label vocabulary; answer must be one word.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phrasings (base · terse · verbose); two-model sub-study.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k ∈ {1, 2, 4, 8} (task-dependent): deterministic, class-balanced exemplars carved out of the corpus, never test items. Hosted/commercial: zero-shot only.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parse rule (strict)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8288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matching — “fr” never matches “free”.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label wins; otherwise exactly one label named anywhere wins.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labels, or neither → unparseable → scored as wrong.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identically at harness time and in an idempotent repair pass over the stored raw outputs — archived and scored predictions can never diverge silently.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the Numbers from Lying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67512" y="1408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Reportability gate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is reported only if class support ≥ 5, n ≥ 40, parse rate ≥ 50% — 6 of 87 cells excluded, 81 reportable.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462272" y="1408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scoring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unparseable answer counts as wrong, never as excluded; macro-F1 always spans the full declared label 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92440" y="1280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57032" y="1408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significance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57032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McNemar on identical items: 260 tests, corrected as one family (Holm + Benjamini–Hochberg, α = 0.05).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67512" y="3694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Dummy sentinels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and stratified-random baselines run through the same scorer — any model below them is flagged, not excused.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566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462272" y="3694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Common-set check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Sub-type rankings recomputed on the shared item subset — rank differences cannot hide in coverage differences.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3566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257032" y="3694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artefacts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57032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SHA-256-pinned sources, seed 42, immutable splits; every table regenerates from the stores.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scikit-learn; paired tests from SciPy’s exact binomial; Holm and Benjamini–Hochberg computed in-notebook over the stored p-values.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— In-Domain: Encoders Lead Five of Six Cells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1_rq1_in_do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863840" cy="26423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1234440"/>
            <a:ext cx="3063240" cy="4206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8239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187452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(weighted): 0.9083 FR/NFR · 0.9235 security-PROMISE.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exception: Qwen2.5-7B edges Security-SecReq (0.8461 vs 0.8356) — never significantly.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in-domain McNemar tests: 67 encoder wins · 39 ties · 0 losses.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doesn’t order results: Gemma-2-2B (2.6 B) beats the hosted 70 B on PROMISE security (0.8999 vs 0.8910).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Buys More as the Label Set Grows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4_sub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863840" cy="26423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1234440"/>
            <a:ext cx="3063240" cy="1280160"/>
          </a:xfrm>
          <a:prstGeom prst="roundRect">
            <a:avLst>
              <a:gd name="adj" fmla="val 5714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82396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+0.014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195560" y="1399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 margin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1892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encoder − best prompted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41080" y="2651760"/>
            <a:ext cx="3063240" cy="1280160"/>
          </a:xfrm>
          <a:prstGeom prst="roundRect">
            <a:avLst>
              <a:gd name="adj" fmla="val 5714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82396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+0.013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195560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top-6 margin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within noise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41080" y="4069080"/>
            <a:ext cx="3063240" cy="1280160"/>
          </a:xfrm>
          <a:prstGeom prst="roundRect">
            <a:avLst>
              <a:gd name="adj" fmla="val 5714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823960" y="4160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+0.095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0195560" y="4233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all-11 margin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4727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pulls away on the long tail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5623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from Table 3.3: 0.9356−0.9216 · 0.8367−0.8235 · 0.7240−0.6287. Cell sizes differ (n = 59–968); on the 59 shared items the top-4 margin is +0.036. RoBERTa (weighted): 0.9356 top-4 · 0.8367 top-6 · 0.7240 all-11.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Distribution Shift, the Result Reverses Completely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2_rq2_trans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223760" cy="3371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18388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920240"/>
            <a:ext cx="3337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encoders drop below prompted models on the cross-dataset security arms.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transferred encoder on SecReq: 0.7015 (unweighted BERT) — Qwen2.5-7B reaches 0.8461 with no tuning at all.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models win 48 of 64 cross-dataset McNemar tests.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Model. Same Task. Two Kinds of Shift.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projects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−6.3%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(weighted), security, PROMISE_exp: 0.9235 → 0.8649 on held-out unseen projects of the same corpus.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corpora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920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−42.8%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configuration, trained on SecReq and evaluated on the very same PROMISE_exp items: 0.9235 → 0.5279 (−0.3956) — nearly seven times the cross-project drop. The reverse direction costs 17.4%.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48056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4626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contrast suggests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02920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projects change the vocabulary; an unseen corpus also changes the base rate (security prevalence 12.9% → 39.9%). Per-class evidence is consistent with it: security precision collapses 0.847 → 0.210 while recall falls far less (0.888 → 0.720), and the model labels 44.2% of PROMISE_exp items security against a true prevalence of 12.9% — close to SecReq’s 39.9% prior. The reverse direction is less clean (33.6% predicted, not 12.9%), so content differences contribute there too. Prompted models, carrying no learned prior, shift by at most 0.163.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Configuration, Ranked by What Transfer Costs It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3_generalisation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6675120" cy="4898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52360" y="118872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35240" y="1828800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(PROMISE_exp): encoders lose 2.7–10.1 points; up to 24.7 points (29.6%) on SecReq.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security: BERT −42.8%, RoBERTa −22.7% (reverse direction −17.4%).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corpus deltas: −0.034 to +0.163 — no training distribution to lose.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 Paired Tests Say the Same Thing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wins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wins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In-domain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371600"/>
            <a:ext cx="3703320" cy="384048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1381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96596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McNemar, BH-corrected at α = 0.05: the in-domain distribution (67–39–0) inverts under cross-dataset transfer (3–13–48). The ranking a benchmark reports depends on the regime it evaluates.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72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of 260 tests significant raw · 170 after BH · 131 after Holm.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Helps Only Where the Label Set Is Unfamiliar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tasks (FR/NFR + security)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paired gain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comparisons · 30 BH-significant · the significant ones average −0.027: examples mostly hurt where the labels are already familiar conventions.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0" y="14264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 sub-types (top-4 / top-6 / all-11)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+0.062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paired gain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comparisons · 14 BH-significant — every one of them a gain (avg +0.114): exemplars communicate an unfamiliar annotation vocabulary.</a:t>
            </a:r>
            <a:endParaRPr lang="en-US" sz="1200" dirty="0"/>
          </a:p>
        </p:txBody>
      </p:sp>
      <p:pic>
        <p:nvPicPr>
          <p:cNvPr id="13" name="Image 0" descr="/tmp/claude-0/-home-user-MSc-/9397b301-4914-5ee0-8e96-2dfb3b74c1d4/scratchpad/deliver/figures/fig5_few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77640"/>
            <a:ext cx="8412480" cy="18863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90 paired tests, median gain +0.024, 44 BH-significant splitting 26 gains vs 18 losses — few-shot is a tool for unfamiliar label sets, not a default.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Model, Reworded, Moves 0.485 Macro-F1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6583680" cy="4389120"/>
          </a:xfrm>
          <a:prstGeom prst="roundRect">
            <a:avLst>
              <a:gd name="adj" fmla="val 1667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4447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Gemma-2-2B · security · SecReq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2066544"/>
            <a:ext cx="3932761" cy="292608"/>
          </a:xfrm>
          <a:prstGeom prst="roundRect">
            <a:avLst>
              <a:gd name="adj" fmla="val 15625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944441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2980944"/>
            <a:ext cx="1632350" cy="292608"/>
          </a:xfrm>
          <a:prstGeom prst="roundRect">
            <a:avLst>
              <a:gd name="adj" fmla="val 15625"/>
            </a:avLst>
          </a:prstGeom>
          <a:solidFill>
            <a:srgbClr val="B0002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644030" y="2926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3895344"/>
            <a:ext cx="3936565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948245" y="3840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0.828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= 0.485 — on paired items, same model, same task, same corpus.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60920" y="1280160"/>
            <a:ext cx="4343400" cy="4389120"/>
          </a:xfrm>
          <a:prstGeom prst="roundRect">
            <a:avLst>
              <a:gd name="adj" fmla="val 1684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543800" y="1444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187452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spread across the nine paired model × task cells is only 0.044 — phrasing is usually second-order.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extremes are catastrophic (Gemma-2-2B also loses 0.345 on PROMISE security to the terse phrasing).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published zero-shot number is one sample from a distribution over phrasings — robustness must be reported per model.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Encoders Hold 9 of the 10 Pareto Points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7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863840" cy="32649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1234440"/>
            <a:ext cx="3063240" cy="4206240"/>
          </a:xfrm>
          <a:prstGeom prst="roundRect">
            <a:avLst>
              <a:gd name="adj" fmla="val 2388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8239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187452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Encoders: ≈ $0.0024 / 1k classifications; prompted models cost 9–47× more per 1k ($0.0216–$0.1132 across all reportable cells).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prompted Pareto point: quantised Qwen2.5-7B (SecReq security, 0.8461).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fine-tuning: median $0.0093 per deployable model (≈ 277 GPU-s per family).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Repays Itself Within 46–552 Requirements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8_break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760720" cy="3073085"/>
          </a:xfrm>
          <a:prstGeom prst="rect">
            <a:avLst/>
          </a:prstGeom>
        </p:spPr>
      </p:pic>
      <p:pic>
        <p:nvPicPr>
          <p:cNvPr id="4" name="Image 1" descr="/tmp/claude-0/-home-user-MSc-/9397b301-4914-5ee0-8e96-2dfb3b74c1d4/scratchpad/deliver/figures/fig10_lat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5166360" cy="176094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4617720"/>
            <a:ext cx="1118311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2"/>
          <p:cNvSpPr txBox="1"/>
          <p:nvPr/>
        </p:nvSpPr>
        <p:spPr>
          <a:xfrm>
            <a:off x="777240" y="48006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276 encoder-vs-alternative pairs reach break-even between 46 and 552 classifications (median 215)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the encoder is cheaper in all 276 pairs by 100,000 items. Hosted-API medians are fast (0.095 s) but queueing inflates the means: projections use medians, means are reported flagged.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Cannot Claim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quotas caused missing-not-at-random dropout on some hosted arms and capped the commercial sub-type sample; the gate excludes those cells rather than imputing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0" y="1417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828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ran under 4-bit quantisation, which may understate full-precision accuracy; GPU costs are an imputed rental rate, token prices are list prices.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" y="3703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corpora are small, dated and public — contamination would inflate prompted in-domain scores, making the observed encoder advantage conservative. English requirements, one taxonomy.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0" y="3703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paired tests are exact and multiplicity-corrected; frozen splits are stored once and never regenerated. Strict scoring differs from lenient protocols in prior work — deliberately.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9436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in full because a benchmark that hides its own coverage gaps is not a benchmark.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Three Answers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6916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399032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In-domain, fine-tuned encoders dominate: they win 67 of 106 paired tests and lose none; the one prompted point-estimate lead (Qwen2.5-7B, SecReq security) is not significant.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3291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8A400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999232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real and asymmetric: encoders lose up to 42.8% of macro-F1 across corpora, prompted models barely move — the verdict matrix inverts (48 of 64 cross-dataset wins for LLMs).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1520" y="48920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599432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are cheapest beyond a few hundred classifications on every measured pairing; quantised Qwen2.5-7B is the strongest freely available prompted fallback on the transfer cell, though no prompted model leads on every task.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3108960" cy="3108960"/>
          </a:xfrm>
          <a:prstGeom prst="ellipse">
            <a:avLst/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94392" y="44805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000232" y="5577840"/>
            <a:ext cx="1828800" cy="1828800"/>
          </a:xfrm>
          <a:prstGeom prst="ellipse">
            <a:avLst/>
          </a:prstGeom>
          <a:solidFill>
            <a:srgbClr val="6E6B3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by data situation, not fashion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small encoder for a stable, labelled domain.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 mid-size open model when entering an unlabelled or shifting one.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6868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76,115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scored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39319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61188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significance tests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5508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/ 87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passed the gate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0" y="39319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09828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46–552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to break even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2026-08-27T19:55:14Z</dcterms:created>
  <dcterms:modified xsi:type="dcterms:W3CDTF">2026-08-27T19:55:14Z</dcterms:modified>
</cp:coreProperties>
</file>