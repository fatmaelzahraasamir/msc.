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jErmY/K8/U4GBvvSc8QevFwRc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21" Type="http://customschemas.google.com/relationships/presentationmetadata" Target="meta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39c8dd2a7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39c8dd2a7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39c8dd2a7_0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r" rtl="1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>
              <a:sym typeface="Arial"/>
            </a:endParaRPr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187" name="Google Shape;18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16" name="Google Shape;21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34" name="Google Shape;23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120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269" name="Google Shape;26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316" name="Google Shape;31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>
              <a:sym typeface="Arial"/>
            </a:endParaRPr>
          </a:p>
        </p:txBody>
      </p:sp>
      <p:sp>
        <p:nvSpPr>
          <p:cNvPr id="342" name="Google Shape;34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>
              <a:sym typeface="Arial"/>
            </a:endParaRPr>
          </a:p>
        </p:txBody>
      </p:sp>
      <p:sp>
        <p:nvSpPr>
          <p:cNvPr id="365" name="Google Shape;365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875520" y="4297680"/>
            <a:ext cx="3291840" cy="329184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1064240" y="5394960"/>
            <a:ext cx="2011680" cy="2011680"/>
          </a:xfrm>
          <a:prstGeom prst="ellipse">
            <a:avLst/>
          </a:prstGeom>
          <a:solidFill>
            <a:srgbClr val="E8A400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822960" y="-822960"/>
            <a:ext cx="2743200" cy="2743200"/>
          </a:xfrm>
          <a:prstGeom prst="ellipse">
            <a:avLst/>
          </a:prstGeom>
          <a:solidFill>
            <a:srgbClr val="2C3A7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MSc THESIS  ·  LITERATURE REVIEW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737360"/>
            <a:ext cx="104241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[Thesis Title —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 Be Confirmed]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3520440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lang="en-US" sz="18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Empirical Benchmark of Cross-Dataset Generalization and Cost-Efficiency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5715000"/>
            <a:ext cx="9498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6C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AA6C8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Outline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5544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22960" y="1554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463040" y="152704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Chapter</a:t>
            </a:r>
            <a:r>
              <a:rPr lang="en-US" sz="3000" b="1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800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1800">
              <a:solidFill>
                <a:srgbClr val="2226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221284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63040" y="2185416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Background: evolution of the task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28712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22960" y="2871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463040" y="2843784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Datasets &amp; benchmarks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22960" y="3529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463040" y="350215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Review of prior work (2024–2026)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22960" y="418795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22960" y="4187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463040" y="4160520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State of the art &amp; recurring limitations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463040" y="4818888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822960" y="550468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822960" y="55046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463040" y="5477256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Proposed study, research questions &amp; contributions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39c8dd2a7_0_17"/>
          <p:cNvSpPr/>
          <p:nvPr/>
        </p:nvSpPr>
        <p:spPr>
          <a:xfrm>
            <a:off x="548640" y="384048"/>
            <a:ext cx="11064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Chapter Overview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39c8dd2a7_0_17"/>
          <p:cNvSpPr/>
          <p:nvPr/>
        </p:nvSpPr>
        <p:spPr>
          <a:xfrm>
            <a:off x="548640" y="1078992"/>
            <a:ext cx="11064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What this literature review covers, and in what order.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f39c8dd2a7_0_17"/>
          <p:cNvSpPr/>
          <p:nvPr/>
        </p:nvSpPr>
        <p:spPr>
          <a:xfrm>
            <a:off x="548640" y="1600200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g3f39c8dd2a7_0_17"/>
          <p:cNvSpPr/>
          <p:nvPr/>
        </p:nvSpPr>
        <p:spPr>
          <a:xfrm>
            <a:off x="804672" y="2002536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3f39c8dd2a7_0_17"/>
          <p:cNvSpPr/>
          <p:nvPr/>
        </p:nvSpPr>
        <p:spPr>
          <a:xfrm>
            <a:off x="804672" y="20025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39c8dd2a7_0_17"/>
          <p:cNvSpPr/>
          <p:nvPr/>
        </p:nvSpPr>
        <p:spPr>
          <a:xfrm>
            <a:off x="1645920" y="1837944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Evolution of the task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f39c8dd2a7_0_17"/>
          <p:cNvSpPr/>
          <p:nvPr/>
        </p:nvSpPr>
        <p:spPr>
          <a:xfrm>
            <a:off x="1645920" y="2258568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From rule-based methods and classical ML to transformers and LLMs.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39c8dd2a7_0_17"/>
          <p:cNvSpPr/>
          <p:nvPr/>
        </p:nvSpPr>
        <p:spPr>
          <a:xfrm>
            <a:off x="6240780" y="1600200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3f39c8dd2a7_0_17"/>
          <p:cNvSpPr/>
          <p:nvPr/>
        </p:nvSpPr>
        <p:spPr>
          <a:xfrm>
            <a:off x="6496812" y="2002536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3f39c8dd2a7_0_17"/>
          <p:cNvSpPr/>
          <p:nvPr/>
        </p:nvSpPr>
        <p:spPr>
          <a:xfrm>
            <a:off x="6496812" y="2002536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39c8dd2a7_0_17"/>
          <p:cNvSpPr/>
          <p:nvPr/>
        </p:nvSpPr>
        <p:spPr>
          <a:xfrm>
            <a:off x="7338060" y="1837944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Datasets &amp; benchmarks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39c8dd2a7_0_17"/>
          <p:cNvSpPr/>
          <p:nvPr/>
        </p:nvSpPr>
        <p:spPr>
          <a:xfrm>
            <a:off x="7338060" y="2258568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public corpora the field relies on — and their limitations.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f39c8dd2a7_0_17"/>
          <p:cNvSpPr/>
          <p:nvPr/>
        </p:nvSpPr>
        <p:spPr>
          <a:xfrm>
            <a:off x="548640" y="3227832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f39c8dd2a7_0_17"/>
          <p:cNvSpPr/>
          <p:nvPr/>
        </p:nvSpPr>
        <p:spPr>
          <a:xfrm>
            <a:off x="804672" y="3630168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f39c8dd2a7_0_17"/>
          <p:cNvSpPr/>
          <p:nvPr/>
        </p:nvSpPr>
        <p:spPr>
          <a:xfrm>
            <a:off x="804672" y="363016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f39c8dd2a7_0_17"/>
          <p:cNvSpPr/>
          <p:nvPr/>
        </p:nvSpPr>
        <p:spPr>
          <a:xfrm>
            <a:off x="1645920" y="3465576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(2024–2026)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f39c8dd2a7_0_17"/>
          <p:cNvSpPr/>
          <p:nvPr/>
        </p:nvSpPr>
        <p:spPr>
          <a:xfrm>
            <a:off x="1645920" y="3886200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Ten influential studies, each with its strengths and weaknesses.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f39c8dd2a7_0_17"/>
          <p:cNvSpPr/>
          <p:nvPr/>
        </p:nvSpPr>
        <p:spPr>
          <a:xfrm>
            <a:off x="6240780" y="3227832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g3f39c8dd2a7_0_17"/>
          <p:cNvSpPr/>
          <p:nvPr/>
        </p:nvSpPr>
        <p:spPr>
          <a:xfrm>
            <a:off x="6496812" y="3630168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f39c8dd2a7_0_17"/>
          <p:cNvSpPr/>
          <p:nvPr/>
        </p:nvSpPr>
        <p:spPr>
          <a:xfrm>
            <a:off x="6496812" y="3630168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g3f39c8dd2a7_0_17"/>
          <p:cNvSpPr/>
          <p:nvPr/>
        </p:nvSpPr>
        <p:spPr>
          <a:xfrm>
            <a:off x="7338060" y="3465576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State of the art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g3f39c8dd2a7_0_17"/>
          <p:cNvSpPr/>
          <p:nvPr/>
        </p:nvSpPr>
        <p:spPr>
          <a:xfrm>
            <a:off x="7338060" y="3886200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What current models actually achieve on the standard benchmarks.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g3f39c8dd2a7_0_17"/>
          <p:cNvSpPr/>
          <p:nvPr/>
        </p:nvSpPr>
        <p:spPr>
          <a:xfrm>
            <a:off x="548640" y="4855464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3f39c8dd2a7_0_17"/>
          <p:cNvSpPr/>
          <p:nvPr/>
        </p:nvSpPr>
        <p:spPr>
          <a:xfrm>
            <a:off x="804672" y="5257800"/>
            <a:ext cx="567000" cy="567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g3f39c8dd2a7_0_17"/>
          <p:cNvSpPr/>
          <p:nvPr/>
        </p:nvSpPr>
        <p:spPr>
          <a:xfrm>
            <a:off x="804672" y="525780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39c8dd2a7_0_17"/>
          <p:cNvSpPr/>
          <p:nvPr/>
        </p:nvSpPr>
        <p:spPr>
          <a:xfrm>
            <a:off x="1645920" y="5093208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Recurring limitations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f39c8dd2a7_0_17"/>
          <p:cNvSpPr/>
          <p:nvPr/>
        </p:nvSpPr>
        <p:spPr>
          <a:xfrm>
            <a:off x="1645920" y="5513832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blind spots shared across almost all prior studies.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g3f39c8dd2a7_0_17"/>
          <p:cNvSpPr/>
          <p:nvPr/>
        </p:nvSpPr>
        <p:spPr>
          <a:xfrm>
            <a:off x="6240780" y="4855464"/>
            <a:ext cx="5372100" cy="1371600"/>
          </a:xfrm>
          <a:prstGeom prst="roundRect">
            <a:avLst>
              <a:gd name="adj" fmla="val 5333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g3f39c8dd2a7_0_17"/>
          <p:cNvSpPr/>
          <p:nvPr/>
        </p:nvSpPr>
        <p:spPr>
          <a:xfrm>
            <a:off x="6496812" y="5257800"/>
            <a:ext cx="567000" cy="56700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f39c8dd2a7_0_17"/>
          <p:cNvSpPr/>
          <p:nvPr/>
        </p:nvSpPr>
        <p:spPr>
          <a:xfrm>
            <a:off x="6496812" y="5257800"/>
            <a:ext cx="567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39c8dd2a7_0_17"/>
          <p:cNvSpPr/>
          <p:nvPr/>
        </p:nvSpPr>
        <p:spPr>
          <a:xfrm>
            <a:off x="7338060" y="5093208"/>
            <a:ext cx="40005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research gap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f39c8dd2a7_0_17"/>
          <p:cNvSpPr/>
          <p:nvPr/>
        </p:nvSpPr>
        <p:spPr>
          <a:xfrm>
            <a:off x="7338060" y="5513832"/>
            <a:ext cx="40005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unanswered questions this thesis sets out to address.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f39c8dd2a7_0_17"/>
          <p:cNvSpPr/>
          <p:nvPr/>
        </p:nvSpPr>
        <p:spPr>
          <a:xfrm>
            <a:off x="548640" y="6455664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Background: Evolution of the Task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545336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545336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58368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Rule-based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658368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mid-2000s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13232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Keyword / indicator terms. Transparent but brittle; poor generalization.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108960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3401568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4398264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4398264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511296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Classical ML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511296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late 2000s–2010s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566160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SVM, Naïve Bayes + TF-IDF. Needs labeled data and manual features.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61888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254496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7251192" y="185623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7251192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364224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Deep Learning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64224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late 2010s–early 2020s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419088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CNN / LSTM + word embeddings. More data-hungry; over-fits small sets.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814816" y="3067812"/>
            <a:ext cx="274320" cy="402336"/>
          </a:xfrm>
          <a:prstGeom prst="chevron">
            <a:avLst>
              <a:gd name="adj" fmla="val 50000"/>
            </a:avLst>
          </a:prstGeom>
          <a:solidFill>
            <a:srgbClr val="C9D2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9107424" y="1600200"/>
            <a:ext cx="2542032" cy="3337560"/>
          </a:xfrm>
          <a:prstGeom prst="roundRect">
            <a:avLst>
              <a:gd name="adj" fmla="val 2878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10104120" y="1856232"/>
            <a:ext cx="548640" cy="548640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0104120" y="18562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9217152" y="2560320"/>
            <a:ext cx="232257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Transformers &amp; LLMs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217152" y="3172968"/>
            <a:ext cx="232257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2020 – now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272016" y="3520440"/>
            <a:ext cx="2212848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BERT / NoRBERT fine-tuning, then zero-/few-shot prompting of LLMs.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The same obstacles recur across every wave: small datasets, class imbalance, and limited generalization.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Datasets &amp; Benchmarks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48640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658368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PROMISE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658368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625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58368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3232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255 FR / 370 NFR · 11 NFR sub-types · the de facto benchmark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3410712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20440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PROMISE_exp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3520440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969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520440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75304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444 FR / 525 NFR · 11 NFR sub-types · same characteristics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272784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82512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SecReq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382512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510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382512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37376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187 security / 323 non-security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134856" y="164592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244584" y="1810512"/>
            <a:ext cx="23865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PURE / App reviews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244584" y="2267712"/>
            <a:ext cx="23865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9244584" y="3017520"/>
            <a:ext cx="23865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9299448" y="3310128"/>
            <a:ext cx="2276856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Longer documents / noisy user-generated text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48640" y="42976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68680" y="4434840"/>
            <a:ext cx="1042416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The catch:  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these datasets are small, old, imbalanced, and reused across almost every study — raising two concerns this thesis targets: possible </a:t>
            </a:r>
            <a:r>
              <a:rPr lang="en-US" sz="1500" b="1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data contamination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(they may be in the models’ pre-training data) and weak evidence of </a:t>
            </a:r>
            <a:r>
              <a:rPr lang="en-US" sz="1500" b="1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generalization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to unseen projects.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2024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48640" y="153619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22960" y="168249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El-Hajjami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2960" y="2029968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SVM &amp; LSTM vs GPT-3.5/4 (zero-/few-shot) across 5 datasets → “no single best technique.”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6355080" y="1764792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6"/>
          <p:cNvSpPr/>
          <p:nvPr/>
        </p:nvSpPr>
        <p:spPr>
          <a:xfrm>
            <a:off x="6583680" y="1719072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Older GPT generation; no open models; no cost analysis; in-distribution only.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273405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822960" y="28803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Kaur &amp; Kaur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2960" y="3227832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Systematic mapping of ~2 decades → BERT outperforms classical ML and deep learning.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6355080" y="2962656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6"/>
          <p:cNvSpPr/>
          <p:nvPr/>
        </p:nvSpPr>
        <p:spPr>
          <a:xfrm>
            <a:off x="6583680" y="2916936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Secondary study (no new experiments); predates the 2025–26 generative wave.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48640" y="3931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22960" y="407822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Sonawane &amp; Puthran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822960" y="4425696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CNN with a flower-pollination optimizer for FR/NFR classification.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6"/>
          <p:cNvCxnSpPr/>
          <p:nvPr/>
        </p:nvCxnSpPr>
        <p:spPr>
          <a:xfrm>
            <a:off x="6355080" y="4160520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6"/>
          <p:cNvSpPr/>
          <p:nvPr/>
        </p:nvSpPr>
        <p:spPr>
          <a:xfrm>
            <a:off x="6583680" y="411480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LLMs; single dataset family; no generalization test; now superseded.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548640" y="512978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822960" y="527608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Peer et al. (NLP4ReF)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2960" y="5623560"/>
            <a:ext cx="534924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LLM-based classification beats traditional NLP pipelines; low cost, high speed.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6355080" y="5358384"/>
            <a:ext cx="0" cy="59436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/>
          <p:nvPr/>
        </p:nvSpPr>
        <p:spPr>
          <a:xfrm>
            <a:off x="6583680" y="5312664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Domain-specific; no open-vs-commercial comparison; no generalization study.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2025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48640" y="153619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822960" y="164592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★ CLOSEST TO THIS THESIS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22960" y="19019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Binkhonain &amp; Alfayaz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2960" y="2249424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5 LLMs × 4 prompting styles × 3 tasks on PROMISE + SecReq vs a fine-tuned baseline; few-shot matches or beats it.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7"/>
          <p:cNvCxnSpPr/>
          <p:nvPr/>
        </p:nvCxnSpPr>
        <p:spPr>
          <a:xfrm>
            <a:off x="6355080" y="1764792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7"/>
          <p:cNvSpPr/>
          <p:nvPr/>
        </p:nvSpPr>
        <p:spPr>
          <a:xfrm>
            <a:off x="6583680" y="1719072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“Generalizability” means cross-task, not cross-project; commercial-heavy; little cost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548640" y="277977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22960" y="2926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Alhoshan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22960" y="3273552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Open models (Bloom, Gemma, Llama), 400+ experiments across 3 datasets; binary + multi-class.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7"/>
          <p:cNvCxnSpPr/>
          <p:nvPr/>
        </p:nvCxnSpPr>
        <p:spPr>
          <a:xfrm>
            <a:off x="6355080" y="3008376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7"/>
          <p:cNvSpPr/>
          <p:nvPr/>
        </p:nvSpPr>
        <p:spPr>
          <a:xfrm>
            <a:off x="6583680" y="2962656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current commercial models; cost not a dimension; in-distribution.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2960" y="416966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Tang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22960" y="4517136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“Over-prompting” effect; TF-IDF few-shot selection lets a small open model beat fine-tuned SOTA by 1%.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7"/>
          <p:cNvCxnSpPr/>
          <p:nvPr/>
        </p:nvCxnSpPr>
        <p:spPr>
          <a:xfrm>
            <a:off x="6355080" y="4251960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5" name="Google Shape;205;p7"/>
          <p:cNvSpPr/>
          <p:nvPr/>
        </p:nvSpPr>
        <p:spPr>
          <a:xfrm>
            <a:off x="6583680" y="420624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Focus on prompting mechanics; in-distribution; no cost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48640" y="526694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22960" y="54132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Chaudhary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822960" y="5760720"/>
            <a:ext cx="53492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Zero-shot ChatGPT on 1,880 app reviews (FR/NFR/both/neither); F1 = 0.842.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7"/>
          <p:cNvCxnSpPr/>
          <p:nvPr/>
        </p:nvCxnSpPr>
        <p:spPr>
          <a:xfrm>
            <a:off x="6355080" y="5495544"/>
            <a:ext cx="0" cy="64008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7"/>
          <p:cNvSpPr/>
          <p:nvPr/>
        </p:nvSpPr>
        <p:spPr>
          <a:xfrm>
            <a:off x="6583680" y="5449824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One commercial model; one dataset; lower precision on noisy text.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Prior Work — 2026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48640" y="1536192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22960" y="168249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Vasudevan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22960" y="2029968"/>
            <a:ext cx="534924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Fine-tuned BERT &amp; RoBERTa vs GPT-4o for FR/NFR — GPT-4o reaches up to 96% accuracy. A clean, recent head-to-head of encoders against a leading commercial model.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8"/>
          <p:cNvCxnSpPr/>
          <p:nvPr/>
        </p:nvCxnSpPr>
        <p:spPr>
          <a:xfrm>
            <a:off x="6355080" y="1764792"/>
            <a:ext cx="0" cy="137160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8"/>
          <p:cNvSpPr/>
          <p:nvPr/>
        </p:nvSpPr>
        <p:spPr>
          <a:xfrm>
            <a:off x="6583680" y="1719072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No open generative LLMs; binary task on one dataset; reports neither cost/latency nor cross-dataset generalization.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8640" y="3511296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822960" y="36576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50"/>
              <a:buFont typeface="Cambria"/>
              <a:buNone/>
            </a:pPr>
            <a:r>
              <a:rPr lang="en-US" sz="15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Levy et al.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822960" y="4005072"/>
            <a:ext cx="5349240" cy="129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Claude 3.5 Sonnet, GPT-4o, Llama 3 on PROMISE_exp (FR/NFR + 11 sub-types) vs expert judgment — GPT-4o ≈ 85% on FR/NFR; models show directional biases.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8"/>
          <p:cNvCxnSpPr/>
          <p:nvPr/>
        </p:nvCxnSpPr>
        <p:spPr>
          <a:xfrm>
            <a:off x="6355080" y="3739896"/>
            <a:ext cx="0" cy="1371600"/>
          </a:xfrm>
          <a:prstGeom prst="straightConnector1">
            <a:avLst/>
          </a:prstGeom>
          <a:noFill/>
          <a:ln w="12700" cap="flat" cmpd="sng">
            <a:solidFill>
              <a:srgbClr val="D3DAE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8"/>
          <p:cNvSpPr/>
          <p:nvPr/>
        </p:nvSpPr>
        <p:spPr>
          <a:xfrm>
            <a:off x="6583680" y="3694176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B5622E"/>
                </a:solidFill>
                <a:latin typeface="Calibri"/>
                <a:ea typeface="Calibri"/>
                <a:cs typeface="Calibri"/>
                <a:sym typeface="Calibri"/>
              </a:rPr>
              <a:t>Limitation:  </a:t>
            </a:r>
            <a:r>
              <a:rPr lang="en-US" sz="12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Commercial-heavy on a standard (contaminable) dataset; expert-judgment design is hard to reproduce; no cost or generalization analysis.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State of the Art: The Task Is Nearly Solved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452360" y="1737360"/>
            <a:ext cx="416052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726680" y="1965960"/>
            <a:ext cx="3611880" cy="233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br>
              <a:rPr lang="en-US" sz="18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the standard benchmarks, functional/non-functional classification is close to solved.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Showing that an LLM “can classify” is no longer a contribution.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452360" y="4526280"/>
            <a:ext cx="4160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150"/>
              <a:buFont typeface="Calibri"/>
              <a:buNone/>
            </a:pPr>
            <a:r>
              <a:rPr lang="en-US" sz="11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Each bar is the headline figure of a different study, on a different dataset, and under a different metric — NoRBERT and Chaudhary report F1, Vasudevan and Levy report accuracy (Levy’s is approximate). Chaudhary’s task is four-way classification of app-store reviews, not binary FR/NFR, so it is shown apart. The bars indicate the performance ceiling the field reports; they are not a ranking.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2248"/>
            <a:ext cx="7147559" cy="460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Recurring Limitations of Prior Work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48640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822960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804672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Evaluated in-distribution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804672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Models are trained and tested on the same dataset. Cross-project / cross-dataset testing is rare — even though NoRBERT warned that classifiers degrade on unseen projects.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306824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4581144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581144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62856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Cost is ignored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62856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Accuracy / F1 is reported in isolation, with a drift toward expensive commercial models. No study asks which free model, on modest hardware, is enough.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8065008" y="1645920"/>
            <a:ext cx="3538728" cy="3566160"/>
          </a:xfrm>
          <a:prstGeom prst="roundRect">
            <a:avLst>
              <a:gd name="adj" fmla="val 2067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339328" y="192024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8339328" y="19202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8321040" y="2651760"/>
            <a:ext cx="302666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Small, old, contaminated data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8321040" y="3429000"/>
            <a:ext cx="302666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 few reused benchmarks that may not reflect real requirements — and may sit in the models’ pre-training data, inflating scores.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10058400" y="-1005840"/>
            <a:ext cx="3108960" cy="3108960"/>
          </a:xfrm>
          <a:prstGeom prst="ellipse">
            <a:avLst/>
          </a:prstGeom>
          <a:solidFill>
            <a:srgbClr val="2C3A7A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200"/>
              <a:buFont typeface="Cambria"/>
              <a:buNone/>
            </a:pPr>
            <a:r>
              <a:rPr lang="en-US" sz="2200" b="1" i="1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The success is the gap.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40080" y="187452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7DEF4"/>
              </a:buClr>
              <a:buSzPts val="1550"/>
              <a:buFont typeface="Calibri"/>
              <a:buNone/>
            </a:pPr>
            <a:r>
              <a:rPr lang="en-US" sz="1550" b="0" i="0" u="none" strike="noStrike" cap="none">
                <a:solidFill>
                  <a:srgbClr val="D7DEF4"/>
                </a:solidFill>
                <a:latin typeface="Calibri"/>
                <a:ea typeface="Calibri"/>
                <a:cs typeface="Calibri"/>
                <a:sym typeface="Calibri"/>
              </a:rPr>
              <a:t>When an off-the-shelf model already classifies clean benchmark requirements accurately, proving that it can is no longer a contribution. The unanswered questions are the ones the literature has systematically avoided: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40080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868680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896112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Generalization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896112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Does high accuracy survive on unseen projects and datasets — the generalization gap?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416552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645152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672584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4672584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 b="0" i="0" u="none" strike="noStrike" cap="none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Is an expensive commercial model necessary, or is a free / open model good enough?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8193024" y="297180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8421624" y="3172968"/>
            <a:ext cx="8229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E8A40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449056" y="3886200"/>
            <a:ext cx="30083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Interaction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449056" y="4343400"/>
            <a:ext cx="300837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C6CEE9"/>
                </a:solidFill>
                <a:latin typeface="Calibri"/>
                <a:ea typeface="Calibri"/>
                <a:cs typeface="Calibri"/>
                <a:sym typeface="Calibri"/>
              </a:rPr>
              <a:t>Does one class of model (fine-tuned, open, or commercial) generalize more robustly than the others under cross-dataset evaluation?</a:t>
            </a:r>
            <a:endParaRPr sz="1100" i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6CEE9"/>
              </a:buClr>
              <a:buSzPts val="1350"/>
              <a:buFont typeface="Calibri"/>
              <a:buNone/>
            </a:pPr>
            <a:endParaRPr sz="1350">
              <a:solidFill>
                <a:srgbClr val="C6CE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F79A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F79A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3B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BC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This Thesis Does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548640" y="1170432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 empirical benchmark</a:t>
            </a:r>
            <a:r>
              <a:rPr lang="en-US" sz="15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  ·  public data  ·  free tools  ·  no methodological novelty — it evaluates existing models under conditions prior work neglected.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48640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777240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Fine-tuned small transformer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777240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BERT / RoBERTa — the specialized, low-cost supervised baseline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4306824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535424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Open generative LLMs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535424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Gemma / Llama / Phi / Qwen / SmolLM — free to run; zero- and few-shot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065008" y="16916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293608" y="1892808"/>
            <a:ext cx="308152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50"/>
              <a:buFont typeface="Cambria"/>
              <a:buNone/>
            </a:pPr>
            <a:r>
              <a:rPr lang="en-US" sz="165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One commercial model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293608" y="2651760"/>
            <a:ext cx="3081528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accessed via a free tier — the high-end reference point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54864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777240" y="395020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Datasets:  PROMISE_exp + SecReq — in-domain, cross-project (leave-project-out), and cross-dataset (security task)</a:t>
            </a: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172200" y="38404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5F7FC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6400800" y="3950208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lang="en-US" sz="135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Tasks:  </a:t>
            </a:r>
            <a:r>
              <a:rPr lang="en-US" sz="135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FR/NFR  ·  NFR sub-types  ·  security vs. non-security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548640" y="4937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868680" y="5047488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450"/>
              <a:buFont typeface="Calibri"/>
              <a:buNone/>
            </a:pPr>
            <a:r>
              <a:rPr lang="en-US" sz="145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Key design:  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performance not only in-distribution but under </a:t>
            </a:r>
            <a:r>
              <a:rPr lang="en-US" sz="14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cross-project &amp; cross-dataset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evaluation (the generalization gap) — and report an explicit </a:t>
            </a:r>
            <a:r>
              <a:rPr lang="en-US" sz="14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accuracy-vs-cost</a:t>
            </a:r>
            <a:r>
              <a:rPr lang="en-US" sz="14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profile.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Research Questions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48640" y="155448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77240" y="1810512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777240" y="1810512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2423160" y="171907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Baseline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423160" y="2048256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How do current open and commercial LLMs compare with a fine-tuned small transformer (zero-/few-shot) on standard benchmarks?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2423160" y="2578608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Establishes the reference picture with current-generation models.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48640" y="3163824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BF1D2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777240" y="3419856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777240" y="3419856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2423160" y="332841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5622E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B5622E"/>
                </a:solidFill>
                <a:latin typeface="Cambria"/>
                <a:ea typeface="Cambria"/>
                <a:cs typeface="Cambria"/>
                <a:sym typeface="Cambria"/>
              </a:rPr>
              <a:t>Generalization gap  ★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2423160" y="3657600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How much does performance drop under cross-project / cross-dataset evaluation — and does the drop differ by model class?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2423160" y="418795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The central question and primary contribution.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48640" y="477316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777240" y="502920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777240" y="5029200"/>
            <a:ext cx="141732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RQ3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423160" y="4937760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mbria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2423160" y="5266944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What is the accuracy-vs-cost trade-off, and what is the cheapest freely available option that reaches acceptable performance?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423160" y="5797296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C80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lang="en-US" sz="1250" b="0" i="1" u="none" strike="noStrike" cap="none">
                <a:solidFill>
                  <a:srgbClr val="666C80"/>
                </a:solidFill>
                <a:latin typeface="Calibri"/>
                <a:ea typeface="Calibri"/>
                <a:cs typeface="Calibri"/>
                <a:sym typeface="Calibri"/>
              </a:rPr>
              <a:t>Practical, resource-aware guidance for real use.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Expected Contributions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548640" y="1645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822960" y="196138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822960" y="196138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1691640" y="184708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An up-to-date benchmark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691640" y="226771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Open vs. commercial vs. fine-tuned models on requirements classification, using current-generation models.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548640" y="30632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822960" y="337870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822960" y="337870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1691640" y="326440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The generalization gap, quantified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1691640" y="368503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A systematic measurement of cross-dataset generalization for this task in the LLM era.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EF1F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822960" y="4796028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22960" y="4796028"/>
            <a:ext cx="603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691640" y="4681728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Resource-aware guidance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691640" y="5102352"/>
            <a:ext cx="9692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63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222634"/>
                </a:solidFill>
                <a:latin typeface="Calibri"/>
                <a:ea typeface="Calibri"/>
                <a:cs typeface="Calibri"/>
                <a:sym typeface="Calibri"/>
              </a:rPr>
              <a:t>The cheapest freely available option that reaches acceptable performance — for students, researchers, and small teams.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MSc Thesis — Literature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AA0B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9AA0B0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"/>
          <p:cNvSpPr/>
          <p:nvPr/>
        </p:nvSpPr>
        <p:spPr>
          <a:xfrm>
            <a:off x="-914400" y="4572000"/>
            <a:ext cx="3108960" cy="3108960"/>
          </a:xfrm>
          <a:prstGeom prst="ellipse">
            <a:avLst/>
          </a:prstGeom>
          <a:solidFill>
            <a:srgbClr val="2C3A7A">
              <a:alpha val="6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640080" y="502920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685800" y="18013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1051560" y="16459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On the standard public benchmarks, requirements classification is close to solved.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685800" y="27157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051560" y="25603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But generalization and cost — the factors that decide real-world usability — remain unaddressed.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685800" y="3630168"/>
            <a:ext cx="146304" cy="146304"/>
          </a:xfrm>
          <a:prstGeom prst="ellipse">
            <a:avLst/>
          </a:prstGeom>
          <a:solidFill>
            <a:srgbClr val="E8A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051560" y="3474720"/>
            <a:ext cx="102412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4E9F7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E4E9F7"/>
                </a:solidFill>
                <a:latin typeface="Calibri"/>
                <a:ea typeface="Calibri"/>
                <a:cs typeface="Calibri"/>
                <a:sym typeface="Calibri"/>
              </a:rPr>
              <a:t>This thesis measures both: how open, commercial, and fine-tuned models generalize across projects and datasets, and at what cost — using only public data and free tools.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40080" y="489204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27306A"/>
          </a:solidFill>
          <a:ln>
            <a:noFill/>
          </a:ln>
          <a:effectLst>
            <a:outerShdw blurRad="88900" dist="25400" dir="5400000" algn="bl" rotWithShape="0">
              <a:srgbClr val="AAB2C6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40080" y="489204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27306A"/>
          </a:solidFill>
          <a:ln w="12700" cap="flat" cmpd="sng">
            <a:solidFill>
              <a:srgbClr val="3B47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960120" y="498348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Next:  </a:t>
            </a:r>
            <a:r>
              <a:rPr lang="en-US"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Chapter 3 — Methodology (experimental design, model set, splits, metrics, and evaluation protocol).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10607040" y="645566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A93B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8A93BC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/>
          <p:nvPr/>
        </p:nvSpPr>
        <p:spPr>
          <a:xfrm>
            <a:off x="9692640" y="4023360"/>
            <a:ext cx="3474720" cy="347472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-914400" y="-914400"/>
            <a:ext cx="2926080" cy="2926080"/>
          </a:xfrm>
          <a:prstGeom prst="ellipse">
            <a:avLst/>
          </a:prstGeom>
          <a:solidFill>
            <a:srgbClr val="2C3A7A">
              <a:alpha val="7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400"/>
              </a:buClr>
              <a:buSzPts val="2200"/>
              <a:buFont typeface="Calibri"/>
              <a:buNone/>
            </a:pPr>
            <a:r>
              <a:rPr lang="en-US" sz="2200" b="0" i="1" u="none" strike="noStrike" cap="none">
                <a:solidFill>
                  <a:srgbClr val="E8A400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1577</Words>
  <Application>Microsoft Office PowerPoint</Application>
  <PresentationFormat>Widescreen</PresentationFormat>
  <Paragraphs>221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Fatma El Zahraa Samir</cp:lastModifiedBy>
  <cp:revision>1</cp:revision>
  <dcterms:created xsi:type="dcterms:W3CDTF">2026-07-11T15:02:35Z</dcterms:created>
  <dcterms:modified xsi:type="dcterms:W3CDTF">2026-08-28T11:55:29Z</dcterms:modified>
</cp:coreProperties>
</file>