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463040"/>
            <a:ext cx="3108960" cy="3108960"/>
          </a:xfrm>
          <a:prstGeom prst="ellipse">
            <a:avLst/>
          </a:prstGeom>
          <a:solidFill>
            <a:srgbClr val="2C3A7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994392" y="4480560"/>
            <a:ext cx="2926080" cy="2926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000232" y="5577840"/>
            <a:ext cx="1828800" cy="1828800"/>
          </a:xfrm>
          <a:prstGeom prst="ellipse">
            <a:avLst/>
          </a:prstGeom>
          <a:solidFill>
            <a:srgbClr val="6E6B3A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12344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 ·  METHODOLOGY &amp; RESULTS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691640"/>
            <a:ext cx="9601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[Thesis Title —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 Be Confirmed]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61188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Empirical Benchmark of Cross-Dataset Generalization and Cost-Efficiency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5943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Task Is Solved. The Interesting Questions Are Not.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literature already shows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783080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Fine-tuned transformers, commercial LLMs and well-prompted open models all reach the high eighties to mid-nineties on FR/NFR.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Showing that a model “can classify requirements” is no longer a contribution.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17920" y="123444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AF0DB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0080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does not show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783080"/>
            <a:ext cx="4937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Almost every result is in-distribution — same corpus for tuning and testing.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and model size are rarely reported at all.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of old public corpora is acknowledged but not addressed.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02920" y="37947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667512" y="3977640"/>
            <a:ext cx="384048" cy="384048"/>
          </a:xfrm>
          <a:prstGeom prst="ellipse">
            <a:avLst/>
          </a:prstGeom>
          <a:solidFill>
            <a:srgbClr val="E8A40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667512" y="397032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88720" y="3977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In-distribution only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67512" y="446227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work claiming better generalisability means transfer across tasks on the same two corpora — never unseen corpora.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297680" y="37947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4462272" y="39776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462272" y="397032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983480" y="3977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is not a dimension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4462272" y="446227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field has drifted to large commercial APIs and reports macro-F1 in isolation.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092440" y="3794760"/>
            <a:ext cx="3520440" cy="1600200"/>
          </a:xfrm>
          <a:prstGeom prst="roundRect">
            <a:avLst>
              <a:gd name="adj" fmla="val 4571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8257032" y="397764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1" name="Text 19"/>
          <p:cNvSpPr txBox="1"/>
          <p:nvPr/>
        </p:nvSpPr>
        <p:spPr>
          <a:xfrm>
            <a:off x="8257032" y="3970325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8778240" y="397764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Small, ageing, imbalanced data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257032" y="446227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or three public corpora underlie nearly every published result.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02920" y="5623560"/>
            <a:ext cx="11183112" cy="685800"/>
          </a:xfrm>
          <a:prstGeom prst="roundRect">
            <a:avLst>
              <a:gd name="adj" fmla="val 10667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5" name="Text 23"/>
          <p:cNvSpPr txBox="1"/>
          <p:nvPr/>
        </p:nvSpPr>
        <p:spPr>
          <a:xfrm>
            <a:off x="777240" y="5742432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thesis reframes a saturated problem around the two axes that decide whether the technique is usable in practice: generalisation and cost.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Questions, One Protocol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11183112" cy="1325880"/>
          </a:xfrm>
          <a:prstGeom prst="roundRect">
            <a:avLst>
              <a:gd name="adj" fmla="val 5517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31520" y="1664208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166420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874520" y="138988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In-domain comparison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874520" y="1755648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open and commercial LLMs compare with fine-tuned encoders on FR/NFR, security, and NFR sub-types?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9601200" y="166420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Establishes the reference point.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2920" y="2743200"/>
            <a:ext cx="11183112" cy="1325880"/>
          </a:xfrm>
          <a:prstGeom prst="roundRect">
            <a:avLst>
              <a:gd name="adj" fmla="val 5517"/>
            </a:avLst>
          </a:prstGeom>
          <a:solidFill>
            <a:srgbClr val="FAF0DB"/>
          </a:solidFill>
          <a:ln/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731520" y="3127248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E8A400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731520" y="312724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874520" y="285292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Generalisation gap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874520" y="3218688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does performance degrade under cross-project and cross-dataset evaluation — and does the gap differ by model class?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9601200" y="312724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primary contribution.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02920" y="4206240"/>
            <a:ext cx="11183112" cy="1325880"/>
          </a:xfrm>
          <a:prstGeom prst="roundRect">
            <a:avLst>
              <a:gd name="adj" fmla="val 5517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731520" y="4590288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731520" y="4590288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4315968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Cost-efficiency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874520" y="4681728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the accuracy-versus-cost trade-off, and what is the cheapest free option that reaches acceptable performance?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9601200" y="4590288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practitioner’s answer.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02920" y="5806440"/>
            <a:ext cx="11183112" cy="594360"/>
          </a:xfrm>
          <a:prstGeom prst="roundRect">
            <a:avLst>
              <a:gd name="adj" fmla="val 12308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22" name="Text 20"/>
          <p:cNvSpPr txBox="1"/>
          <p:nvPr/>
        </p:nvSpPr>
        <p:spPr>
          <a:xfrm>
            <a:off x="777240" y="5907024"/>
            <a:ext cx="106344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question is answered on the same corpora, the same items and the same scoring rule — so the three answers are directly comparable.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2286000"/>
            <a:ext cx="1480507" cy="1737360"/>
          </a:xfrm>
          <a:prstGeom prst="roundRect">
            <a:avLst>
              <a:gd name="adj" fmla="val 4762"/>
            </a:avLst>
          </a:prstGeom>
          <a:solidFill>
            <a:srgbClr val="FAF0DB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08670" y="2395728"/>
            <a:ext cx="1269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08670" y="2724912"/>
            <a:ext cx="1269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pipeline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08670" y="3054096"/>
            <a:ext cx="12690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1,412 reqs · 14 frozen split families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948176" y="2926080"/>
            <a:ext cx="2467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120021" y="2286000"/>
            <a:ext cx="1480507" cy="1737360"/>
          </a:xfrm>
          <a:prstGeom prst="roundRect">
            <a:avLst>
              <a:gd name="adj" fmla="val 4762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2225771" y="2395728"/>
            <a:ext cx="1269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2225771" y="2724912"/>
            <a:ext cx="1269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225771" y="3054096"/>
            <a:ext cx="12690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/ RoBERTa · 24,280 preds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3565277" y="2926080"/>
            <a:ext cx="2467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737122" y="2286000"/>
            <a:ext cx="1480507" cy="1737360"/>
          </a:xfrm>
          <a:prstGeom prst="roundRect">
            <a:avLst>
              <a:gd name="adj" fmla="val 4762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3842872" y="2395728"/>
            <a:ext cx="1269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3842872" y="2724912"/>
            <a:ext cx="1269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binary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842872" y="3054096"/>
            <a:ext cx="12690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models attempted · 35,049 preds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5182378" y="2926080"/>
            <a:ext cx="2467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354223" y="2286000"/>
            <a:ext cx="1480507" cy="1737360"/>
          </a:xfrm>
          <a:prstGeom prst="roundRect">
            <a:avLst>
              <a:gd name="adj" fmla="val 4762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5459973" y="2395728"/>
            <a:ext cx="1269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3b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59973" y="2724912"/>
            <a:ext cx="1269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sub-types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459973" y="3054096"/>
            <a:ext cx="12690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16,786 preds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799479" y="2926080"/>
            <a:ext cx="2467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971324" y="2286000"/>
            <a:ext cx="1480507" cy="1737360"/>
          </a:xfrm>
          <a:prstGeom prst="roundRect">
            <a:avLst>
              <a:gd name="adj" fmla="val 4762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24" name="Text 22"/>
          <p:cNvSpPr txBox="1"/>
          <p:nvPr/>
        </p:nvSpPr>
        <p:spPr>
          <a:xfrm>
            <a:off x="7077074" y="2395728"/>
            <a:ext cx="1269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Repair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7077074" y="2724912"/>
            <a:ext cx="1269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re-parse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077074" y="3054096"/>
            <a:ext cx="12690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· store-preserving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8416580" y="2926080"/>
            <a:ext cx="2467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8588425" y="2286000"/>
            <a:ext cx="1480507" cy="1737360"/>
          </a:xfrm>
          <a:prstGeom prst="roundRect">
            <a:avLst>
              <a:gd name="adj" fmla="val 4762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29" name="Text 27"/>
          <p:cNvSpPr txBox="1"/>
          <p:nvPr/>
        </p:nvSpPr>
        <p:spPr>
          <a:xfrm>
            <a:off x="8694175" y="2395728"/>
            <a:ext cx="1269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4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8694175" y="2724912"/>
            <a:ext cx="1269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694175" y="3054096"/>
            <a:ext cx="12690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tables 1–11 · figs 1–6 · McNemar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0033681" y="2926080"/>
            <a:ext cx="246751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0205525" y="2286000"/>
            <a:ext cx="1480507" cy="1737360"/>
          </a:xfrm>
          <a:prstGeom prst="roundRect">
            <a:avLst>
              <a:gd name="adj" fmla="val 4762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34" name="Text 32"/>
          <p:cNvSpPr txBox="1"/>
          <p:nvPr/>
        </p:nvSpPr>
        <p:spPr>
          <a:xfrm>
            <a:off x="10311276" y="2395728"/>
            <a:ext cx="1269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Stage 5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10311276" y="2724912"/>
            <a:ext cx="12690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10311276" y="3054096"/>
            <a:ext cx="126900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1–5 · figs 7–10 · break-even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02920" y="4572000"/>
            <a:ext cx="11183112" cy="1188720"/>
          </a:xfrm>
          <a:prstGeom prst="roundRect">
            <a:avLst>
              <a:gd name="adj" fmla="val 6154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38" name="Text 36"/>
          <p:cNvSpPr txBox="1"/>
          <p:nvPr/>
        </p:nvSpPr>
        <p:spPr>
          <a:xfrm>
            <a:off x="777240" y="4754880"/>
            <a:ext cx="10634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rule:  every stage writes a versioned artefact that the next stage consumes; every number in the thesis is read from those artefacts — 76,115 predictions in total, scored once, under one protocol.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Corpora, De-Duplicated Before Anything Else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6766560" cy="914400"/>
        </p:xfrm>
        <a:graphic>
          <a:graphicData uri="http://schemas.openxmlformats.org/drawingml/2006/table">
            <a:tbl>
              <a:tblPr/>
              <a:tblGrid>
                <a:gridCol w="1600200"/>
                <a:gridCol w="1371600"/>
                <a:gridCol w="1051560"/>
                <a:gridCol w="1280160"/>
                <a:gridCol w="1463040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Corpus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Raw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 / NFR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/ Non-sec.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PROMISE_exp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444 / 524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125 / 843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SecReq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177 / 267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1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Unified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1,479 − 67 dup.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1,412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444 / 524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302 / 1,110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DB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02920" y="3429000"/>
            <a:ext cx="6766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Post-deduplication class counts, from the Stage-1 manifest. Zero duplicate texts across the two corpora.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7543800" y="1325880"/>
            <a:ext cx="4160520" cy="2377440"/>
          </a:xfrm>
          <a:prstGeom prst="roundRect">
            <a:avLst>
              <a:gd name="adj" fmla="val 3077"/>
            </a:avLst>
          </a:prstGeom>
          <a:solidFill>
            <a:srgbClr val="FAF0DB"/>
          </a:solidFill>
          <a:ln/>
        </p:spPr>
        <p:txBody>
          <a:bodyPr/>
          <a:p/>
        </p:txBody>
      </p:sp>
      <p:sp>
        <p:nvSpPr>
          <p:cNvPr id="6" name="Text 3"/>
          <p:cNvSpPr txBox="1"/>
          <p:nvPr/>
        </p:nvSpPr>
        <p:spPr>
          <a:xfrm>
            <a:off x="7726680" y="14630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prevalence contrast is the pivot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726680" y="1874520"/>
            <a:ext cx="3840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requirements are 12.9% of PROMISE_exp but 39.9% of SecReq — a three-fold difference in base rate between the two corpora describing the same concept.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7726680" y="2834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C3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   12.9%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464040" y="2871216"/>
            <a:ext cx="658368" cy="182880"/>
          </a:xfrm>
          <a:prstGeom prst="roundRect">
            <a:avLst>
              <a:gd name="adj" fmla="val 15000"/>
            </a:avLst>
          </a:prstGeom>
          <a:solidFill>
            <a:srgbClr val="2C3A7A"/>
          </a:solidFill>
          <a:ln/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7726680" y="320040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SecReq      39.9%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464040" y="3236976"/>
            <a:ext cx="2029968" cy="182880"/>
          </a:xfrm>
          <a:prstGeom prst="roundRect">
            <a:avLst>
              <a:gd name="adj" fmla="val 15000"/>
            </a:avLst>
          </a:prstGeom>
          <a:solidFill>
            <a:srgbClr val="E8A400"/>
          </a:solidFill>
          <a:ln/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502920" y="3977640"/>
            <a:ext cx="11183112" cy="2148840"/>
          </a:xfrm>
          <a:prstGeom prst="roundRect">
            <a:avLst>
              <a:gd name="adj" fmla="val 3404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85800" y="41148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Eleven NFR sub-types, a very long tail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77240" y="45262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377440" y="4562856"/>
            <a:ext cx="2926080" cy="118872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6" name="Text 13"/>
          <p:cNvSpPr txBox="1"/>
          <p:nvPr/>
        </p:nvSpPr>
        <p:spPr>
          <a:xfrm>
            <a:off x="5349240" y="45262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125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777240" y="47457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377440" y="4782312"/>
            <a:ext cx="1989734" cy="118872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9" name="Text 16"/>
          <p:cNvSpPr txBox="1"/>
          <p:nvPr/>
        </p:nvSpPr>
        <p:spPr>
          <a:xfrm>
            <a:off x="4412894" y="474573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777240" y="49651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2377440" y="5001768"/>
            <a:ext cx="1802465" cy="118872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4225625" y="49651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777240" y="51846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377440" y="5221224"/>
            <a:ext cx="1544970" cy="118872"/>
          </a:xfrm>
          <a:prstGeom prst="roundRect">
            <a:avLst>
              <a:gd name="adj" fmla="val 15385"/>
            </a:avLst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25" name="Text 22"/>
          <p:cNvSpPr txBox="1"/>
          <p:nvPr/>
        </p:nvSpPr>
        <p:spPr>
          <a:xfrm>
            <a:off x="3968130" y="51846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777240" y="540410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&amp; feel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2377440" y="5440680"/>
            <a:ext cx="1147023" cy="118872"/>
          </a:xfrm>
          <a:prstGeom prst="roundRect">
            <a:avLst>
              <a:gd name="adj" fmla="val 15385"/>
            </a:avLst>
          </a:prstGeom>
          <a:solidFill>
            <a:srgbClr val="9AA6C8"/>
          </a:solidFill>
          <a:ln/>
        </p:spPr>
        <p:txBody>
          <a:bodyPr/>
          <a:p/>
        </p:txBody>
      </p:sp>
      <p:sp>
        <p:nvSpPr>
          <p:cNvPr id="28" name="Text 25"/>
          <p:cNvSpPr txBox="1"/>
          <p:nvPr/>
        </p:nvSpPr>
        <p:spPr>
          <a:xfrm>
            <a:off x="3570183" y="54041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777240" y="562356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</a:t>
            </a:r>
            <a:endParaRPr lang="en-US" sz="1000" dirty="0"/>
          </a:p>
        </p:txBody>
      </p:sp>
      <p:sp>
        <p:nvSpPr>
          <p:cNvPr id="30" name="Shape 27"/>
          <p:cNvSpPr/>
          <p:nvPr/>
        </p:nvSpPr>
        <p:spPr>
          <a:xfrm>
            <a:off x="2377440" y="5660136"/>
            <a:ext cx="725668" cy="118872"/>
          </a:xfrm>
          <a:prstGeom prst="roundRect">
            <a:avLst>
              <a:gd name="adj" fmla="val 15385"/>
            </a:avLst>
          </a:prstGeom>
          <a:solidFill>
            <a:srgbClr val="9AA6C8"/>
          </a:solidFill>
          <a:ln/>
        </p:spPr>
        <p:txBody>
          <a:bodyPr/>
          <a:p/>
        </p:txBody>
      </p:sp>
      <p:sp>
        <p:nvSpPr>
          <p:cNvPr id="31" name="Text 28"/>
          <p:cNvSpPr txBox="1"/>
          <p:nvPr/>
        </p:nvSpPr>
        <p:spPr>
          <a:xfrm>
            <a:off x="3148828" y="562356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355080" y="4526280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7955280" y="4562856"/>
            <a:ext cx="561807" cy="118872"/>
          </a:xfrm>
          <a:prstGeom prst="roundRect">
            <a:avLst>
              <a:gd name="adj" fmla="val 15385"/>
            </a:avLst>
          </a:prstGeom>
          <a:solidFill>
            <a:srgbClr val="9AA6C8"/>
          </a:solidFill>
          <a:ln/>
        </p:spPr>
        <p:txBody>
          <a:bodyPr/>
          <a:p/>
        </p:txBody>
      </p:sp>
      <p:sp>
        <p:nvSpPr>
          <p:cNvPr id="34" name="Text 31"/>
          <p:cNvSpPr txBox="1"/>
          <p:nvPr/>
        </p:nvSpPr>
        <p:spPr>
          <a:xfrm>
            <a:off x="8562807" y="4526280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355080" y="4745736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7955280" y="4782312"/>
            <a:ext cx="514990" cy="118872"/>
          </a:xfrm>
          <a:prstGeom prst="roundRect">
            <a:avLst>
              <a:gd name="adj" fmla="val 15385"/>
            </a:avLst>
          </a:prstGeom>
          <a:solidFill>
            <a:srgbClr val="9AA6C8"/>
          </a:solidFill>
          <a:ln/>
        </p:spPr>
        <p:txBody>
          <a:bodyPr/>
          <a:p/>
        </p:txBody>
      </p:sp>
      <p:sp>
        <p:nvSpPr>
          <p:cNvPr id="37" name="Text 34"/>
          <p:cNvSpPr txBox="1"/>
          <p:nvPr/>
        </p:nvSpPr>
        <p:spPr>
          <a:xfrm>
            <a:off x="8515990" y="4745736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6355080" y="4965192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fault tolerance</a:t>
            </a:r>
            <a:endParaRPr lang="en-US" sz="1000" dirty="0"/>
          </a:p>
        </p:txBody>
      </p:sp>
      <p:sp>
        <p:nvSpPr>
          <p:cNvPr id="39" name="Shape 36"/>
          <p:cNvSpPr/>
          <p:nvPr/>
        </p:nvSpPr>
        <p:spPr>
          <a:xfrm>
            <a:off x="7955280" y="5001768"/>
            <a:ext cx="421356" cy="118872"/>
          </a:xfrm>
          <a:prstGeom prst="roundRect">
            <a:avLst>
              <a:gd name="adj" fmla="val 15385"/>
            </a:avLst>
          </a:prstGeom>
          <a:solidFill>
            <a:srgbClr val="9AA6C8"/>
          </a:solidFill>
          <a:ln/>
        </p:spPr>
        <p:txBody>
          <a:bodyPr/>
          <a:p/>
        </p:txBody>
      </p:sp>
      <p:sp>
        <p:nvSpPr>
          <p:cNvPr id="40" name="Text 37"/>
          <p:cNvSpPr txBox="1"/>
          <p:nvPr/>
        </p:nvSpPr>
        <p:spPr>
          <a:xfrm>
            <a:off x="8422356" y="4965192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41" name="Text 38"/>
          <p:cNvSpPr txBox="1"/>
          <p:nvPr/>
        </p:nvSpPr>
        <p:spPr>
          <a:xfrm>
            <a:off x="6355080" y="51846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7955280" y="5221224"/>
            <a:ext cx="351130" cy="118872"/>
          </a:xfrm>
          <a:prstGeom prst="roundRect">
            <a:avLst>
              <a:gd name="adj" fmla="val 15385"/>
            </a:avLst>
          </a:prstGeom>
          <a:solidFill>
            <a:srgbClr val="9AA6C8"/>
          </a:solidFill>
          <a:ln/>
        </p:spPr>
        <p:txBody>
          <a:bodyPr/>
          <a:p/>
        </p:txBody>
      </p:sp>
      <p:sp>
        <p:nvSpPr>
          <p:cNvPr id="43" name="Text 40"/>
          <p:cNvSpPr txBox="1"/>
          <p:nvPr/>
        </p:nvSpPr>
        <p:spPr>
          <a:xfrm>
            <a:off x="8352130" y="5184648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44" name="Text 41"/>
          <p:cNvSpPr txBox="1"/>
          <p:nvPr/>
        </p:nvSpPr>
        <p:spPr>
          <a:xfrm>
            <a:off x="6355080" y="5404104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portability</a:t>
            </a:r>
            <a:endParaRPr lang="en-US" sz="1000" dirty="0"/>
          </a:p>
        </p:txBody>
      </p:sp>
      <p:sp>
        <p:nvSpPr>
          <p:cNvPr id="45" name="Shape 42"/>
          <p:cNvSpPr/>
          <p:nvPr/>
        </p:nvSpPr>
        <p:spPr>
          <a:xfrm>
            <a:off x="7955280" y="5440680"/>
            <a:ext cx="280904" cy="118872"/>
          </a:xfrm>
          <a:prstGeom prst="roundRect">
            <a:avLst>
              <a:gd name="adj" fmla="val 15385"/>
            </a:avLst>
          </a:prstGeom>
          <a:solidFill>
            <a:srgbClr val="9AA6C8"/>
          </a:solidFill>
          <a:ln/>
        </p:spPr>
        <p:txBody>
          <a:bodyPr/>
          <a:p/>
        </p:txBody>
      </p:sp>
      <p:sp>
        <p:nvSpPr>
          <p:cNvPr id="46" name="Text 43"/>
          <p:cNvSpPr txBox="1"/>
          <p:nvPr/>
        </p:nvSpPr>
        <p:spPr>
          <a:xfrm>
            <a:off x="8281904" y="5404104"/>
            <a:ext cx="548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47" name="Text 44"/>
          <p:cNvSpPr txBox="1"/>
          <p:nvPr/>
        </p:nvSpPr>
        <p:spPr>
          <a:xfrm>
            <a:off x="6675120" y="58064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top-4 and top-6 variants exist because the tail carries single- and double-digit support</a:t>
            </a:r>
            <a:endParaRPr lang="en-US" sz="1050" dirty="0"/>
          </a:p>
        </p:txBody>
      </p:sp>
      <p:sp>
        <p:nvSpPr>
          <p:cNvPr id="48" name="Text 45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49" name="Text 46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 Folds Across 14 Families, 12 Configurations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749808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1874520"/>
                <a:gridCol w="1874520"/>
                <a:gridCol w="1874520"/>
              </a:tblGrid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Family group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Families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In-domain (6 tasks × datasets)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stratified 5-fold CV within the corpus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Cross-project (6 tasks × datasets)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held-out unseen project groups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Leave-one-project-out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fold per PROMISE_exp project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Cross-dataset (security)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PROMISE_exp ↔ test SecReq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DB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8275320" y="1325880"/>
            <a:ext cx="3429000" cy="2651760"/>
          </a:xfrm>
          <a:prstGeom prst="roundRect">
            <a:avLst>
              <a:gd name="adj" fmla="val 2759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458200" y="14630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Frozen means frozen</a:t>
            </a:r>
            <a:endParaRPr lang="en-US" sz="1500" dirty="0"/>
          </a:p>
        </p:txBody>
      </p:sp>
      <p:sp>
        <p:nvSpPr>
          <p:cNvPr id="6" name="Text 3"/>
          <p:cNvSpPr txBox="1"/>
          <p:nvPr/>
        </p:nvSpPr>
        <p:spPr>
          <a:xfrm>
            <a:off x="8458200" y="187452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are generated once (seed 42) and stored as JSON keyed by stable ids over SHA-256-pinned sources, never regenerated. Project grouping (StratifiedGroupKFold) applies to the cross-project families; the in-domain arm is a plain stratified 5-fold, because it is the in-distribution reference the transfer arms are measured against — fold membership depends on the version of the library that generated them.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502920" y="4206240"/>
            <a:ext cx="11183112" cy="1737360"/>
          </a:xfrm>
          <a:prstGeom prst="roundRect">
            <a:avLst>
              <a:gd name="adj" fmla="val 4211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777240" y="437083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Paired by construction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4754880"/>
            <a:ext cx="106344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Prompted models answer stratified samples of the same test items, so every encoder–LLM comparison is McNemar-paired on identical requirements. Having no training distribution, prompted zero-shot scores are regime-invariant by construction — the encoders’ drop is measured against a baseline that cannot over-fit the source corpus.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11" name="Text 8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Twelve Configurations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11183112" cy="1417320"/>
          </a:xfrm>
          <a:prstGeom prst="roundRect">
            <a:avLst>
              <a:gd name="adj" fmla="val 5161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731520" y="138988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Fine-tuned encoders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4114800" y="140817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BERT-base (110 M) · RoBERTa-base (125 M)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114800" y="1847088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 inverse-frequency class weighting · lr 2×10⁻⁵ · batch 16 · max len 128 · 3 epochs (binary), 10 (sub-types)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852928"/>
            <a:ext cx="11183112" cy="1417320"/>
          </a:xfrm>
          <a:prstGeom prst="roundRect">
            <a:avLst>
              <a:gd name="adj" fmla="val 5161"/>
            </a:avLst>
          </a:prstGeom>
          <a:solidFill>
            <a:srgbClr val="FAF0DB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731520" y="296265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prompted LLMs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114800" y="2980944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Gemma-2-2B · SmolLM3-3B · Qwen2.5-3B · Phi-4-mini · Qwen2.5-7B · Llama-3.1-8B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114800" y="3419856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4-bit NF4 on a free T4 · plus hosted Llama-3.3-70B (free API tier)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4425696"/>
            <a:ext cx="11183112" cy="1417320"/>
          </a:xfrm>
          <a:prstGeom prst="roundRect">
            <a:avLst>
              <a:gd name="adj" fmla="val 5161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31520" y="453542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Commercial reference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4114800" y="455371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3.1 Flash-Lite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4114800" y="4992624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tier · closed weights (parameter count undisclosed — recorded as unknown, not guessed)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5998464"/>
            <a:ext cx="111831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ninth prompted model (hosted Nemotron-3-Nano-30B) failed the reportability gate (21 items per cell, below n ≥ 40) — its 63 predictions stay in the raw store but never enter a results table.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Prompting Protocol &amp; Strict Parsing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prompt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182880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instruction naming the task and the exact label vocabulary; answer must be one word.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phrasings (base · terse · verbose); two-model sub-study.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Few-shot k ∈ {1, 2, 4, 8} (task-dependent): deterministic, class-balanced exemplars carved out of the corpus, never test items. Hosted/commercial: zero-shot only.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486400" cy="4297680"/>
          </a:xfrm>
          <a:prstGeom prst="roundRect">
            <a:avLst>
              <a:gd name="adj" fmla="val 1702"/>
            </a:avLst>
          </a:prstGeom>
          <a:solidFill>
            <a:srgbClr val="FAF0DB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00800" y="14173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parse rule (strict)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1828800"/>
            <a:ext cx="49377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Word-boundary matching — “fr” never matches “free”.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leading label wins; otherwise exactly one label named anywhere wins.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labels, or neither → unparseable → scored as wrong.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identically at harness time and in an idempotent repair pass over the stored raw outputs — archived and scored predictions can never diverge silently.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Stops the Numbers from Lying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67512" y="14081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Reportability gate</a:t>
            </a:r>
            <a:endParaRPr lang="en-US" sz="1450" dirty="0"/>
          </a:p>
        </p:txBody>
      </p:sp>
      <p:sp>
        <p:nvSpPr>
          <p:cNvPr id="5" name="Text 3"/>
          <p:cNvSpPr txBox="1"/>
          <p:nvPr/>
        </p:nvSpPr>
        <p:spPr>
          <a:xfrm>
            <a:off x="667512" y="18288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cell is reported only if class support ≥ 5, n ≥ 40, parse rate ≥ 50% — 6 of 87 cells excluded, 81 reportable.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4297680" y="12801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4462272" y="14081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Strict scoring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4462272" y="18288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unparseable answer counts as wrong, never as excluded; macro-F1 always spans the full declared label set.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092440" y="12801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FAF0DB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8257032" y="14081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Paired significance</a:t>
            </a:r>
            <a:endParaRPr lang="en-US" sz="1450" dirty="0"/>
          </a:p>
        </p:txBody>
      </p:sp>
      <p:sp>
        <p:nvSpPr>
          <p:cNvPr id="11" name="Text 9"/>
          <p:cNvSpPr txBox="1"/>
          <p:nvPr/>
        </p:nvSpPr>
        <p:spPr>
          <a:xfrm>
            <a:off x="8257032" y="18288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McNemar on identical items: 260 tests, corrected as one family (Holm + Benjamini–Hochberg, α = 0.05).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5661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67512" y="36941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Dummy sentinels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67512" y="41148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Majority-class and stratified-random baselines run through the same scorer — any model below them is flagged, not excused.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297680" y="35661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4462272" y="36941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Common-set check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4462272" y="41148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Sub-type rankings recomputed on the shared item subset (tab5) — rank differences cannot hide in coverage differences.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8092440" y="3566160"/>
            <a:ext cx="3520440" cy="2103120"/>
          </a:xfrm>
          <a:prstGeom prst="roundRect">
            <a:avLst>
              <a:gd name="adj" fmla="val 3478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19" name="Text 17"/>
          <p:cNvSpPr txBox="1"/>
          <p:nvPr/>
        </p:nvSpPr>
        <p:spPr>
          <a:xfrm>
            <a:off x="8257032" y="3694176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Frozen artefacts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8257032" y="4114800"/>
            <a:ext cx="32004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SHA-256-pinned sources, seed 42, immutable splits; every table regenerates from the stores.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502920" y="598932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from scikit-learn; paired tests from SciPy’s exact binomial; Holm and Benjamini–Hochberg computed in-notebook over the stored p-values.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 — In-Domain: Encoders Lead Five of Six Cells</a:t>
            </a:r>
            <a:endParaRPr lang="en-US" sz="2800" dirty="0"/>
          </a:p>
        </p:txBody>
      </p:sp>
      <p:pic>
        <p:nvPicPr>
          <p:cNvPr id="3" name="Image 0" descr="/tmp/claude-0/-home-user-MSc-/9397b301-4914-5ee0-8e96-2dfb3b74c1d4/scratchpad/deliver/figures/fig1_rq1_in_do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7863840" cy="264233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641080" y="1234440"/>
            <a:ext cx="3063240" cy="4206240"/>
          </a:xfrm>
          <a:prstGeom prst="roundRect">
            <a:avLst>
              <a:gd name="adj" fmla="val 2388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82396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Takeaway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823960" y="1874520"/>
            <a:ext cx="2743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(weighted): 0.9083 FR/NFR · 0.9235 security-PROMISE.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one exception: Qwen2.5-7B edges Security-SecReq (0.8461 vs 0.8356) — never significantly.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 in-domain McNemar tests: 67 encoder wins · 39 ties · 0 losses.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doesn’t order results: Gemma-2-2B (2.6 B) beats the hosted 70 B on PROMISE security (0.8999 vs 0.8910).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Supervision Buys More as the Label Set Grows</a:t>
            </a:r>
            <a:endParaRPr lang="en-US" sz="2800" dirty="0"/>
          </a:p>
        </p:txBody>
      </p:sp>
      <p:pic>
        <p:nvPicPr>
          <p:cNvPr id="3" name="Image 0" descr="/tmp/claude-0/-home-user-MSc-/9397b301-4914-5ee0-8e96-2dfb3b74c1d4/scratchpad/deliver/figures/fig4_subtyp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7863840" cy="2642331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641080" y="1234440"/>
            <a:ext cx="3063240" cy="1280160"/>
          </a:xfrm>
          <a:prstGeom prst="roundRect">
            <a:avLst>
              <a:gd name="adj" fmla="val 5714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823960" y="132588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+0.014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10195560" y="139903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top-4 margin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8823960" y="189280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encoder − best prompted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8641080" y="2651760"/>
            <a:ext cx="3063240" cy="1280160"/>
          </a:xfrm>
          <a:prstGeom prst="roundRect">
            <a:avLst>
              <a:gd name="adj" fmla="val 5714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8823960" y="274320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+0.013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10195560" y="281635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top-6 margin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8823960" y="331012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within noise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8641080" y="4069080"/>
            <a:ext cx="3063240" cy="1280160"/>
          </a:xfrm>
          <a:prstGeom prst="roundRect">
            <a:avLst>
              <a:gd name="adj" fmla="val 5714"/>
            </a:avLst>
          </a:prstGeom>
          <a:solidFill>
            <a:srgbClr val="FAF0DB"/>
          </a:solidFill>
          <a:ln/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8823960" y="416052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+0.095</a:t>
            </a:r>
            <a:endParaRPr lang="en-US" sz="2400" dirty="0"/>
          </a:p>
        </p:txBody>
      </p:sp>
      <p:sp>
        <p:nvSpPr>
          <p:cNvPr id="14" name="Text 11"/>
          <p:cNvSpPr txBox="1"/>
          <p:nvPr/>
        </p:nvSpPr>
        <p:spPr>
          <a:xfrm>
            <a:off x="10195560" y="4233672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all-11 margin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8823960" y="4727448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supervision pulls away on the long tail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02920" y="56235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Margins from Table 3.3: 0.9356−0.9216 · 0.8367−0.8235 · 0.7240−0.6287. Cell sizes differ (n = 59–968); on the 59 shared items the top-4 margin is +0.036. RoBERTa (weighted): 0.9356 top-4 · 0.8367 top-6 · 0.7240 all-11.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Distribution Shift, the Result Reverses Completely</a:t>
            </a:r>
            <a:endParaRPr lang="en-US" sz="2800" dirty="0"/>
          </a:p>
        </p:txBody>
      </p:sp>
      <p:pic>
        <p:nvPicPr>
          <p:cNvPr id="3" name="Image 0" descr="/tmp/claude-0/-home-user-MSc-/9397b301-4914-5ee0-8e96-2dfb3b74c1d4/scratchpad/deliver/figures/fig2_rq2_transf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7223760" cy="337173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01000" y="1280160"/>
            <a:ext cx="3703320" cy="4206240"/>
          </a:xfrm>
          <a:prstGeom prst="roundRect">
            <a:avLst>
              <a:gd name="adj" fmla="val 1975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183880" y="14630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it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183880" y="1920240"/>
            <a:ext cx="3337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Transferred encoders drop below prompted models on the cross-dataset security arms.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transferred encoder on SecReq: 0.7015 (unweighted BERT) — Qwen2.5-7B reaches 0.8461 with no tuning at all.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Prompted models win 48 of 64 cross-dataset McNemar tests.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Same Model. Same Task. Two Kinds of Shift.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37160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85800" y="1536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projects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9202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−6.3%</a:t>
            </a:r>
            <a:endParaRPr lang="en-US" sz="4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9718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(weighted), security, PROMISE_exp: 0.9235 → 0.8649 on held-out unseen projects of the same corpus.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17920" y="137160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FAF0DB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6400800" y="153619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Across corpora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0" y="192024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B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−42.8%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29718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configuration, trained on SecReq and evaluated on the very same PROMISE_exp items: 0.9235 → 0.5279 (−0.3956) — nearly seven times the cross-project drop. The reverse direction costs 17.4%.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480560"/>
            <a:ext cx="11183112" cy="1554480"/>
          </a:xfrm>
          <a:prstGeom prst="roundRect">
            <a:avLst>
              <a:gd name="adj" fmla="val 4706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2" name="Text 10"/>
          <p:cNvSpPr txBox="1"/>
          <p:nvPr/>
        </p:nvSpPr>
        <p:spPr>
          <a:xfrm>
            <a:off x="777240" y="4626864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A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contrast suggests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77240" y="502920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Unseen projects change the vocabulary; an unseen corpus also changes the base rate (security prevalence 12.9% → 39.9%). Per-class evidence is consistent with it: security precision collapses 0.847 → 0.210 while recall falls far less (0.888 → 0.720), and the model labels 44.2% of PROMISE_exp items security against a true prevalence of 12.9% — close to SecReq’s 39.9% prior. The reverse direction is less clean (33.6% predicted, not 12.9%), so content differences contribute there too. Prompted models, carrying no learned prior, shift by at most 0.163.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Configuration, Ranked by What Transfer Costs It</a:t>
            </a:r>
            <a:endParaRPr lang="en-US" sz="2800" dirty="0"/>
          </a:p>
        </p:txBody>
      </p:sp>
      <p:pic>
        <p:nvPicPr>
          <p:cNvPr id="3" name="Image 0" descr="/tmp/claude-0/-home-user-MSc-/9397b301-4914-5ee0-8e96-2dfb3b74c1d4/scratchpad/deliver/figures/fig3_generalisation_g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188720"/>
            <a:ext cx="6675120" cy="48987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452360" y="1188720"/>
            <a:ext cx="4251960" cy="4480560"/>
          </a:xfrm>
          <a:prstGeom prst="roundRect">
            <a:avLst>
              <a:gd name="adj" fmla="val 1720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763524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numbers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7635240" y="1828800"/>
            <a:ext cx="3886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Cross-project (PROMISE_exp): encoders lose 2.7–10.1 points; up to 24.7 points (29.6%) on SecReq.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Cross-dataset security: BERT −42.8%, RoBERTa −22.7% (reverse direction −17.4%).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Prompted corpus deltas: −0.034 to +0.163 — no training distribution to lose.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260 Paired Tests Say the Same Thing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1389888"/>
                <a:gridCol w="1389888"/>
                <a:gridCol w="1389888"/>
                <a:gridCol w="1389888"/>
                <a:gridCol w="1389888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Encoder wins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n.s.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 wins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In-domain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9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Cross-project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Cross-dataset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D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B0002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0D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23304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C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9"/>
                    </a:solidFill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7955280" y="1371600"/>
            <a:ext cx="3703320" cy="3840480"/>
          </a:xfrm>
          <a:prstGeom prst="roundRect">
            <a:avLst>
              <a:gd name="adj" fmla="val 1975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138160" y="15544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sentence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138160" y="1965960"/>
            <a:ext cx="33375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McNemar, BH-corrected at α = 0.05: the in-domain distribution (67–39–0) inverts under cross-dataset transfer (3–13–48). The ranking a benchmark reports depends on the regime it evaluates.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572000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175 of 260 tests significant raw · 170 after BH · 131 after Holm.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Few-Shot Helps Only Where the Label Set Is Unfamiliar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85800" y="142646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Binary tasks (FR/NFR + security)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7830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B0002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−0.007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329184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paired gain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697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comparisons · 30 BH-significant · the significant ones average −0.027: examples mostly hurt where the labels are already familiar conventions.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280160"/>
            <a:ext cx="5486400" cy="2468880"/>
          </a:xfrm>
          <a:prstGeom prst="roundRect">
            <a:avLst>
              <a:gd name="adj" fmla="val 2963"/>
            </a:avLst>
          </a:prstGeom>
          <a:solidFill>
            <a:srgbClr val="FAF0DB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6400800" y="1426464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NFR sub-types (top-4 / top-6 / all-11)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7A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+0.062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9006840" y="21031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paired gain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6400800" y="269748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comparisons · 14 BH-significant — every one of them a gain (avg +0.114): exemplars communicate an unfamiliar annotation vocabulary.</a:t>
            </a:r>
            <a:endParaRPr lang="en-US" sz="1200" dirty="0"/>
          </a:p>
        </p:txBody>
      </p:sp>
      <p:pic>
        <p:nvPicPr>
          <p:cNvPr id="13" name="Image 0" descr="/tmp/claude-0/-home-user-MSc-/9397b301-4914-5ee0-8e96-2dfb3b74c1d4/scratchpad/deliver/figures/fig5_few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977640"/>
            <a:ext cx="8412480" cy="1886347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02920" y="5943600"/>
            <a:ext cx="11183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Overall: 90 paired tests, median gain +0.024, 44 BH-significant splitting 26 gains vs 18 losses — few-shot is a tool for unfamiliar label sets, not a default.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16" name="Text 13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Model, Reworded, Moves 0.485 Macro-F1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6583680" cy="4389120"/>
          </a:xfrm>
          <a:prstGeom prst="roundRect">
            <a:avLst>
              <a:gd name="adj" fmla="val 1667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85800" y="1444752"/>
            <a:ext cx="5943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Gemma-2-2B · security · SecReq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0116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920240" y="2066544"/>
            <a:ext cx="3932761" cy="292608"/>
          </a:xfrm>
          <a:prstGeom prst="roundRect">
            <a:avLst>
              <a:gd name="adj" fmla="val 15625"/>
            </a:avLst>
          </a:prstGeom>
          <a:solidFill>
            <a:srgbClr val="2C3A7A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5944441" y="20116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0.827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9260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terse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920240" y="2980944"/>
            <a:ext cx="1632350" cy="292608"/>
          </a:xfrm>
          <a:prstGeom prst="roundRect">
            <a:avLst>
              <a:gd name="adj" fmla="val 15625"/>
            </a:avLst>
          </a:prstGeom>
          <a:solidFill>
            <a:srgbClr val="B00020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3644030" y="29260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0.343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84048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verbose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1920240" y="3895344"/>
            <a:ext cx="3936565" cy="292608"/>
          </a:xfrm>
          <a:prstGeom prst="roundRect">
            <a:avLst>
              <a:gd name="adj" fmla="val 15625"/>
            </a:avLst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5948245" y="38404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0.828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48920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00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spread = 0.485 — on paired items, same model, same task, same corpus.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360920" y="1280160"/>
            <a:ext cx="4343400" cy="4389120"/>
          </a:xfrm>
          <a:prstGeom prst="roundRect">
            <a:avLst>
              <a:gd name="adj" fmla="val 1684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16" name="Text 14"/>
          <p:cNvSpPr txBox="1"/>
          <p:nvPr/>
        </p:nvSpPr>
        <p:spPr>
          <a:xfrm>
            <a:off x="7543800" y="14447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means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543800" y="1874520"/>
            <a:ext cx="39776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median spread across the nine paired model × task cells is only 0.044 — phrasing is usually second-order.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the extremes are catastrophic (Gemma-2-2B also loses 0.345 on PROMISE security to the terse phrasing).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single published zero-shot number is one sample from a distribution over phrasings — robustness must be reported per model.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Encoders Hold 9 of the 10 Pareto Points</a:t>
            </a:r>
            <a:endParaRPr lang="en-US" sz="2800" dirty="0"/>
          </a:p>
        </p:txBody>
      </p:sp>
      <p:pic>
        <p:nvPicPr>
          <p:cNvPr id="3" name="Image 0" descr="/tmp/claude-0/-home-user-MSc-/9397b301-4914-5ee0-8e96-2dfb3b74c1d4/scratchpad/deliver/figures/fig7_pare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4440"/>
            <a:ext cx="7863840" cy="326493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641080" y="1234440"/>
            <a:ext cx="3063240" cy="4206240"/>
          </a:xfrm>
          <a:prstGeom prst="roundRect">
            <a:avLst>
              <a:gd name="adj" fmla="val 2388"/>
            </a:avLst>
          </a:prstGeom>
          <a:solidFill>
            <a:srgbClr val="FAF0DB"/>
          </a:solidFill>
          <a:ln/>
        </p:spPr>
        <p:txBody>
          <a:bodyPr/>
          <a:p/>
        </p:txBody>
      </p:sp>
      <p:sp>
        <p:nvSpPr>
          <p:cNvPr id="5" name="Text 2"/>
          <p:cNvSpPr txBox="1"/>
          <p:nvPr/>
        </p:nvSpPr>
        <p:spPr>
          <a:xfrm>
            <a:off x="8823960" y="14173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Frontier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823960" y="1874520"/>
            <a:ext cx="274320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Encoders: ≈ $0.0024 / 1k classifications; prompted models cost 9–47× more per 1k ($0.0216–$0.1132 across all reportable cells).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single prompted Pareto point: quantised Qwen2.5-7B (SecReq security, 0.8461).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One-off fine-tuning: median $0.0093 per deployable model (≈ 277 GPU-s per family).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Fine-Tuning Repays Itself Within 46–552 Requirements</a:t>
            </a:r>
            <a:endParaRPr lang="en-US" sz="2800" dirty="0"/>
          </a:p>
        </p:txBody>
      </p:sp>
      <p:pic>
        <p:nvPicPr>
          <p:cNvPr id="3" name="Image 0" descr="/tmp/claude-0/-home-user-MSc-/9397b301-4914-5ee0-8e96-2dfb3b74c1d4/scratchpad/deliver/figures/fig8_breakev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5760720" cy="3073085"/>
          </a:xfrm>
          <a:prstGeom prst="rect">
            <a:avLst/>
          </a:prstGeom>
        </p:spPr>
      </p:pic>
      <p:pic>
        <p:nvPicPr>
          <p:cNvPr id="4" name="Image 1" descr="/tmp/claude-0/-home-user-MSc-/9397b301-4914-5ee0-8e96-2dfb3b74c1d4/scratchpad/deliver/figures/fig10_latenc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280160"/>
            <a:ext cx="5166360" cy="1760945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502920" y="4617720"/>
            <a:ext cx="11183112" cy="1371600"/>
          </a:xfrm>
          <a:prstGeom prst="roundRect">
            <a:avLst>
              <a:gd name="adj" fmla="val 5333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6" name="Text 2"/>
          <p:cNvSpPr txBox="1"/>
          <p:nvPr/>
        </p:nvSpPr>
        <p:spPr>
          <a:xfrm>
            <a:off x="777240" y="480060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276 encoder-vs-alternative pairs reach break-even between 46 and 552 classifications (median 215) </a:t>
            </a:r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and the encoder is cheaper in all 276 pairs by 100,000 items. Hosted-API medians are fast (0.095 s) but queueing inflates the means: projections use medians, means are reported flagged.</a:t>
            </a:r>
            <a:endParaRPr lang="en-US" sz="1350" dirty="0"/>
          </a:p>
        </p:txBody>
      </p:sp>
      <p:sp>
        <p:nvSpPr>
          <p:cNvPr id="7" name="Text 3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8" name="Text 4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Study Cannot Claim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8016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Coverage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18288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Free-tier quotas caused missing-not-at-random dropout on some hosted arms and capped the commercial sub-type sample; the gate excludes those cells rather than imputing them.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217920" y="128016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7" name="Text 5"/>
          <p:cNvSpPr txBox="1"/>
          <p:nvPr/>
        </p:nvSpPr>
        <p:spPr>
          <a:xfrm>
            <a:off x="6400800" y="14173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6400800" y="18288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models ran under 4-bit quantisation, which may understate full-precision accuracy; GPU costs are an imputed rental rate, token prices are list prices.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" y="356616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FAF0DB"/>
          </a:solidFill>
          <a:ln/>
        </p:spPr>
        <p:txBody>
          <a:bodyPr/>
          <a:p/>
        </p:txBody>
      </p:sp>
      <p:sp>
        <p:nvSpPr>
          <p:cNvPr id="10" name="Text 8"/>
          <p:cNvSpPr txBox="1"/>
          <p:nvPr/>
        </p:nvSpPr>
        <p:spPr>
          <a:xfrm>
            <a:off x="685800" y="37033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External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1148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corpora are small, dated and public — contamination would inflate prompted in-domain scores, making the observed encoder advantage conservative. English requirements, one taxonomy.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17920" y="3566160"/>
            <a:ext cx="5486400" cy="2103120"/>
          </a:xfrm>
          <a:prstGeom prst="roundRect">
            <a:avLst>
              <a:gd name="adj" fmla="val 3478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6400800" y="3703320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0" y="411480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paired tests are exact and multiplicity-corrected; frozen splits are stored once and never regenerated. Strict scoring differs from lenient protocols in prior work — deliberately.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5943600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Stated in full because a benchmark that hides its own coverage gaps is not a benchmark.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02920" y="292608"/>
            <a:ext cx="110916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Questions, Three Answers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02920" y="1234440"/>
            <a:ext cx="11183112" cy="1463040"/>
          </a:xfrm>
          <a:prstGeom prst="roundRect">
            <a:avLst>
              <a:gd name="adj" fmla="val 5000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731520" y="169164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16916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920240" y="1399032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In-domain, fine-tuned encoders dominate: they win 67 of 106 paired tests and lose none; the one prompted point-estimate lead (Qwen2.5-7B, SecReq security) is not significant.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2834640"/>
            <a:ext cx="11183112" cy="1463040"/>
          </a:xfrm>
          <a:prstGeom prst="roundRect">
            <a:avLst>
              <a:gd name="adj" fmla="val 5000"/>
            </a:avLst>
          </a:prstGeom>
          <a:solidFill>
            <a:srgbClr val="FAF0DB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731520" y="329184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E8A400"/>
          </a:solidFill>
          <a:ln/>
        </p:spPr>
        <p:txBody>
          <a:bodyPr/>
          <a:p/>
        </p:txBody>
      </p:sp>
      <p:sp>
        <p:nvSpPr>
          <p:cNvPr id="9" name="Text 7"/>
          <p:cNvSpPr txBox="1"/>
          <p:nvPr/>
        </p:nvSpPr>
        <p:spPr>
          <a:xfrm>
            <a:off x="731520" y="32918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920240" y="2999232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 real and asymmetric: encoders lose up to 42.8% of macro-F1 across corpora, prompted models barely move — the verdict matrix inverts (48 of 64 cross-dataset wins for LLMs).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4434840"/>
            <a:ext cx="11183112" cy="1463040"/>
          </a:xfrm>
          <a:prstGeom prst="roundRect">
            <a:avLst>
              <a:gd name="adj" fmla="val 5000"/>
            </a:avLst>
          </a:prstGeom>
          <a:solidFill>
            <a:srgbClr val="EEF1F9"/>
          </a:solidFill>
          <a:ln/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731520" y="4892040"/>
            <a:ext cx="914400" cy="502920"/>
          </a:xfrm>
          <a:prstGeom prst="roundRect">
            <a:avLst>
              <a:gd name="adj" fmla="val 10909"/>
            </a:avLst>
          </a:prstGeom>
          <a:solidFill>
            <a:srgbClr val="1E2761"/>
          </a:solidFill>
          <a:ln/>
        </p:spPr>
        <p:txBody>
          <a:bodyPr/>
          <a:p/>
        </p:txBody>
      </p:sp>
      <p:sp>
        <p:nvSpPr>
          <p:cNvPr id="13" name="Text 11"/>
          <p:cNvSpPr txBox="1"/>
          <p:nvPr/>
        </p:nvSpPr>
        <p:spPr>
          <a:xfrm>
            <a:off x="731520" y="4892040"/>
            <a:ext cx="914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RQ3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920240" y="4599432"/>
            <a:ext cx="9509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 are cheapest beyond a few hundred classifications on every measured pairing; quantised Qwen2.5-7B is the strongest freely available prompted fallback on the transfer cell, though no prompted model leads on every task.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0292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Thesis — Methodology &amp; Results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954512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-1463040"/>
            <a:ext cx="3108960" cy="3108960"/>
          </a:xfrm>
          <a:prstGeom prst="ellipse">
            <a:avLst/>
          </a:prstGeom>
          <a:solidFill>
            <a:srgbClr val="2C3A7A"/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9994392" y="4480560"/>
            <a:ext cx="2926080" cy="292608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p/>
        </p:txBody>
      </p:sp>
      <p:sp>
        <p:nvSpPr>
          <p:cNvPr id="4" name="Shape 2"/>
          <p:cNvSpPr/>
          <p:nvPr/>
        </p:nvSpPr>
        <p:spPr>
          <a:xfrm>
            <a:off x="11000232" y="5577840"/>
            <a:ext cx="1828800" cy="1828800"/>
          </a:xfrm>
          <a:prstGeom prst="ellipse">
            <a:avLst/>
          </a:prstGeom>
          <a:solidFill>
            <a:srgbClr val="6E6B3A"/>
          </a:solidFill>
          <a:ln/>
        </p:spPr>
        <p:txBody>
          <a:bodyPr/>
          <a:p/>
        </p:txBody>
      </p:sp>
      <p:sp>
        <p:nvSpPr>
          <p:cNvPr id="5" name="Text 3"/>
          <p:cNvSpPr txBox="1"/>
          <p:nvPr/>
        </p:nvSpPr>
        <p:spPr>
          <a:xfrm>
            <a:off x="731520" y="15544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Choose by data situation, not fashion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5603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a small encoder for a stable, labelled domain.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a mid-size open model when entering an unlabelled or shifting one.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2C3A7A"/>
          </a:solidFill>
          <a:ln/>
        </p:spPr>
        <p:txBody>
          <a:bodyPr/>
          <a:p/>
        </p:txBody>
      </p:sp>
      <p:sp>
        <p:nvSpPr>
          <p:cNvPr id="8" name="Text 6"/>
          <p:cNvSpPr txBox="1"/>
          <p:nvPr/>
        </p:nvSpPr>
        <p:spPr>
          <a:xfrm>
            <a:off x="868680" y="40416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76,115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4617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predictions scored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474720" y="393192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2C3A7A"/>
          </a:solidFill>
          <a:ln/>
        </p:spPr>
        <p:txBody>
          <a:bodyPr/>
          <a:p/>
        </p:txBody>
      </p:sp>
      <p:sp>
        <p:nvSpPr>
          <p:cNvPr id="11" name="Text 9"/>
          <p:cNvSpPr txBox="1"/>
          <p:nvPr/>
        </p:nvSpPr>
        <p:spPr>
          <a:xfrm>
            <a:off x="3611880" y="40416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260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3611880" y="4617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significance tests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217920" y="393192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2C3A7A"/>
          </a:solidFill>
          <a:ln/>
        </p:spPr>
        <p:txBody>
          <a:bodyPr/>
          <a:p/>
        </p:txBody>
      </p:sp>
      <p:sp>
        <p:nvSpPr>
          <p:cNvPr id="14" name="Text 12"/>
          <p:cNvSpPr txBox="1"/>
          <p:nvPr/>
        </p:nvSpPr>
        <p:spPr>
          <a:xfrm>
            <a:off x="6355080" y="40416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81 / 87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6355080" y="4617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 passed the gate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961120" y="3931920"/>
            <a:ext cx="2468880" cy="1188720"/>
          </a:xfrm>
          <a:prstGeom prst="roundRect">
            <a:avLst>
              <a:gd name="adj" fmla="val 6154"/>
            </a:avLst>
          </a:prstGeom>
          <a:solidFill>
            <a:srgbClr val="2C3A7A"/>
          </a:solidFill>
          <a:ln/>
        </p:spPr>
        <p:txBody>
          <a:bodyPr/>
          <a:p/>
        </p:txBody>
      </p:sp>
      <p:sp>
        <p:nvSpPr>
          <p:cNvPr id="17" name="Text 15"/>
          <p:cNvSpPr txBox="1"/>
          <p:nvPr/>
        </p:nvSpPr>
        <p:spPr>
          <a:xfrm>
            <a:off x="9098280" y="4041648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8A4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46–552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9098280" y="4617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 to break even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731520" y="5760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questions &amp; discussion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2026-08-27T19:55:14Z</dcterms:created>
  <dcterms:modified xsi:type="dcterms:W3CDTF">2026-08-27T19:55:14Z</dcterms:modified>
</cp:coreProperties>
</file>