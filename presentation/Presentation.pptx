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3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FR/NFR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BERT_w</c:v>
                  </c:pt>
                  <c:pt idx="1">
                    <c:v>RoBERTa_w</c:v>
                  </c:pt>
                  <c:pt idx="2">
                    <c:v>Gemini 3.1 Flash-Lite</c:v>
                  </c:pt>
                  <c:pt idx="3">
                    <c:v>Llama-3.3-70B</c:v>
                  </c:pt>
                  <c:pt idx="4">
                    <c:v>Qwen2.5-7B</c:v>
                  </c:pt>
                  <c:pt idx="5">
                    <c:v>Llama-3.1-8B</c:v>
                  </c:pt>
                  <c:pt idx="6">
                    <c:v>Gemma-2-2B</c:v>
                  </c:pt>
                  <c:pt idx="7">
                    <c:v>Phi-4-mini</c:v>
                  </c:pt>
                  <c:pt idx="8">
                    <c:v>SmolLM3-3B</c:v>
                  </c:pt>
                  <c:pt idx="9">
                    <c:v>Qwen2.5-3B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0.908</c:v>
                </c:pt>
                <c:pt idx="1">
                  <c:v>0.896</c:v>
                </c:pt>
                <c:pt idx="2">
                  <c:v>0.867</c:v>
                </c:pt>
                <c:pt idx="3">
                  <c:v>0.852</c:v>
                </c:pt>
                <c:pt idx="4">
                  <c:v>0.656</c:v>
                </c:pt>
                <c:pt idx="5">
                  <c:v>0.682</c:v>
                </c:pt>
                <c:pt idx="6">
                  <c:v>0.663</c:v>
                </c:pt>
                <c:pt idx="7">
                  <c:v>0.727</c:v>
                </c:pt>
                <c:pt idx="8">
                  <c:v>0.562</c:v>
                </c:pt>
                <c:pt idx="9">
                  <c:v>0.554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Security</c:v>
                </c:pt>
              </c:strCache>
            </c:strRef>
          </c:tx>
          <c:spPr>
            <a:solidFill>
              <a:srgbClr val="E69F0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BERT_w</c:v>
                  </c:pt>
                  <c:pt idx="1">
                    <c:v>RoBERTa_w</c:v>
                  </c:pt>
                  <c:pt idx="2">
                    <c:v>Gemini 3.1 Flash-Lite</c:v>
                  </c:pt>
                  <c:pt idx="3">
                    <c:v>Llama-3.3-70B</c:v>
                  </c:pt>
                  <c:pt idx="4">
                    <c:v>Qwen2.5-7B</c:v>
                  </c:pt>
                  <c:pt idx="5">
                    <c:v>Llama-3.1-8B</c:v>
                  </c:pt>
                  <c:pt idx="6">
                    <c:v>Gemma-2-2B</c:v>
                  </c:pt>
                  <c:pt idx="7">
                    <c:v>Phi-4-mini</c:v>
                  </c:pt>
                  <c:pt idx="8">
                    <c:v>SmolLM3-3B</c:v>
                  </c:pt>
                  <c:pt idx="9">
                    <c:v>Qwen2.5-3B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0.923</c:v>
                </c:pt>
                <c:pt idx="1">
                  <c:v>0.902</c:v>
                </c:pt>
                <c:pt idx="2">
                  <c:v>0.829</c:v>
                </c:pt>
                <c:pt idx="3">
                  <c:v>0.891</c:v>
                </c:pt>
                <c:pt idx="4">
                  <c:v>0.884</c:v>
                </c:pt>
                <c:pt idx="5">
                  <c:v>0.872</c:v>
                </c:pt>
                <c:pt idx="6">
                  <c:v>0.9</c:v>
                </c:pt>
                <c:pt idx="7">
                  <c:v>0.798</c:v>
                </c:pt>
                <c:pt idx="8">
                  <c:v>0.841</c:v>
                </c:pt>
                <c:pt idx="9">
                  <c:v>0.707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macro-F1 (in-domain, PROMISE_exp)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A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In-domain (trained on PROMISE_exp)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BERT_w</c:v>
                  </c:pt>
                  <c:pt idx="1">
                    <c:v>BERT_u</c:v>
                  </c:pt>
                  <c:pt idx="2">
                    <c:v>RoBERTa_w</c:v>
                  </c:pt>
                  <c:pt idx="3">
                    <c:v>RoBERTa_u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0.923</c:v>
                </c:pt>
                <c:pt idx="1">
                  <c:v>0.907</c:v>
                </c:pt>
                <c:pt idx="2">
                  <c:v>0.902</c:v>
                </c:pt>
                <c:pt idx="3">
                  <c:v>0.903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Cross-dataset (trained on SecReq)</c:v>
                </c:pt>
              </c:strCache>
            </c:strRef>
          </c:tx>
          <c:spPr>
            <a:solidFill>
              <a:srgbClr val="E69F0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BERT_w</c:v>
                  </c:pt>
                  <c:pt idx="1">
                    <c:v>BERT_u</c:v>
                  </c:pt>
                  <c:pt idx="2">
                    <c:v>RoBERTa_w</c:v>
                  </c:pt>
                  <c:pt idx="3">
                    <c:v>RoBERTa_u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0.528</c:v>
                </c:pt>
                <c:pt idx="1">
                  <c:v>0.534</c:v>
                </c:pt>
                <c:pt idx="2">
                  <c:v>0.698</c:v>
                </c:pt>
                <c:pt idx="3">
                  <c:v>0.707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macro-F1, PROMISE_exp security (same items)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A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Gemma-2-2B — SecReq security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</c:v>
                  </c:pt>
                  <c:pt idx="1">
                    <c:v>terse</c:v>
                  </c:pt>
                  <c:pt idx="2">
                    <c:v>verbose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0.827</c:v>
                </c:pt>
                <c:pt idx="1">
                  <c:v>0.343</c:v>
                </c:pt>
                <c:pt idx="2">
                  <c:v>0.828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macro-F1 (Gemma-2-2B, SecReq security)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914400"/>
            <a:ext cx="3108960" cy="3108960"/>
          </a:xfrm>
          <a:prstGeom prst="ellipse">
            <a:avLst/>
          </a:prstGeom>
          <a:solidFill>
            <a:srgbClr val="0072B2">
              <a:alpha val="75000"/>
            </a:srgbClr>
          </a:solidFill>
          <a:ln w="12700">
            <a:solidFill>
              <a:srgbClr val="0072B2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2377440"/>
            <a:ext cx="2743200" cy="2743200"/>
          </a:xfrm>
          <a:prstGeom prst="ellipse">
            <a:avLst/>
          </a:prstGeom>
          <a:solidFill>
            <a:srgbClr val="E69F00">
              <a:alpha val="70000"/>
            </a:srgbClr>
          </a:solidFill>
          <a:ln w="12700">
            <a:solidFill>
              <a:srgbClr val="E69F00">
                <a:alpha val="7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0392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9264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LLMs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DEFENSE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Encoders or Prompted LLMs for Requirements Classification? The Verdict Inverts Under Distribution Shift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862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Fatma El-Zahraa Samir · Khaled T. Wassif · Lamia AbouZeid — Faculty of Computers and Artificial Intelligence, Cairo University, Giza, Egypt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committee presentation — September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argument is built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365460" cy="2577084"/>
          </a:xfrm>
          <a:prstGeom prst="roundRect">
            <a:avLst>
              <a:gd name="adj" fmla="val 66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7050" y="1600200"/>
            <a:ext cx="548640" cy="548640"/>
          </a:xfrm>
          <a:prstGeom prst="ellipse">
            <a:avLst/>
          </a:prstGeom>
          <a:solidFill>
            <a:srgbClr val="0072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705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286000"/>
            <a:ext cx="11460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3063240"/>
            <a:ext cx="1109428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'Solved' rests on in-distribution evaluation; cost unmeasured; corpora reused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41532" y="3144774"/>
            <a:ext cx="201168" cy="219456"/>
          </a:xfrm>
          <a:prstGeom prst="rightArrow">
            <a:avLst/>
          </a:prstGeom>
          <a:solidFill>
            <a:srgbClr val="B0B7C3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70132" y="1920240"/>
            <a:ext cx="1365460" cy="2577084"/>
          </a:xfrm>
          <a:prstGeom prst="roundRect">
            <a:avLst>
              <a:gd name="adj" fmla="val 66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78543" y="1600200"/>
            <a:ext cx="548640" cy="548640"/>
          </a:xfrm>
          <a:prstGeom prst="ellipse">
            <a:avLst/>
          </a:prstGeom>
          <a:solidFill>
            <a:srgbClr val="0072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78543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279860" y="2286000"/>
            <a:ext cx="11460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RQs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298148" y="3063240"/>
            <a:ext cx="1109428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 (RQ1), distribution shift (RQ2), accuracy vs cost (RQ3)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3025" y="3144774"/>
            <a:ext cx="201168" cy="219456"/>
          </a:xfrm>
          <a:prstGeom prst="rightArrow">
            <a:avLst/>
          </a:prstGeom>
          <a:solidFill>
            <a:srgbClr val="B0B7C3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1625" y="1920240"/>
            <a:ext cx="1365460" cy="2577084"/>
          </a:xfrm>
          <a:prstGeom prst="roundRect">
            <a:avLst>
              <a:gd name="adj" fmla="val 66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0035" y="1600200"/>
            <a:ext cx="548640" cy="548640"/>
          </a:xfrm>
          <a:prstGeom prst="ellipse">
            <a:avLst/>
          </a:prstGeom>
          <a:solidFill>
            <a:srgbClr val="0072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00035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901353" y="2286000"/>
            <a:ext cx="11460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919641" y="3063240"/>
            <a:ext cx="1109428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configurations, 1,412 requirements, 3 tasks, 3 regimes, one strict scorer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84517" y="3144774"/>
            <a:ext cx="201168" cy="219456"/>
          </a:xfrm>
          <a:prstGeom prst="rightArrow">
            <a:avLst/>
          </a:prstGeom>
          <a:solidFill>
            <a:srgbClr val="B0B7C3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117" y="1920240"/>
            <a:ext cx="1365460" cy="2577084"/>
          </a:xfrm>
          <a:prstGeom prst="roundRect">
            <a:avLst>
              <a:gd name="adj" fmla="val 66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21528" y="1600200"/>
            <a:ext cx="548640" cy="548640"/>
          </a:xfrm>
          <a:prstGeom prst="ellipse">
            <a:avLst/>
          </a:prstGeom>
          <a:solidFill>
            <a:srgbClr val="0072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2152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522845" y="2286000"/>
            <a:ext cx="11460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 in-domain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541133" y="3063240"/>
            <a:ext cx="1109428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win 67 of 106 paired tests, lose none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06010" y="3144774"/>
            <a:ext cx="201168" cy="219456"/>
          </a:xfrm>
          <a:prstGeom prst="rightArrow">
            <a:avLst/>
          </a:prstGeom>
          <a:solidFill>
            <a:srgbClr val="B0B7C3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34610" y="1920240"/>
            <a:ext cx="1365460" cy="2577084"/>
          </a:xfrm>
          <a:prstGeom prst="roundRect">
            <a:avLst>
              <a:gd name="adj" fmla="val 66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43020" y="1600200"/>
            <a:ext cx="548640" cy="548640"/>
          </a:xfrm>
          <a:prstGeom prst="ellipse">
            <a:avLst/>
          </a:prstGeom>
          <a:solidFill>
            <a:srgbClr val="0072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430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144338" y="2286000"/>
            <a:ext cx="11460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 shift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162626" y="3063240"/>
            <a:ext cx="1109428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Cross-dataset: prompted models win 48 of 64; class-weighted BERT loses 42.8%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27502" y="3144774"/>
            <a:ext cx="201168" cy="219456"/>
          </a:xfrm>
          <a:prstGeom prst="rightArrow">
            <a:avLst/>
          </a:prstGeom>
          <a:solidFill>
            <a:srgbClr val="B0B7C3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56102" y="1920240"/>
            <a:ext cx="1365460" cy="2577084"/>
          </a:xfrm>
          <a:prstGeom prst="roundRect">
            <a:avLst>
              <a:gd name="adj" fmla="val 66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64513" y="1600200"/>
            <a:ext cx="548640" cy="548640"/>
          </a:xfrm>
          <a:prstGeom prst="ellipse">
            <a:avLst/>
          </a:prstGeom>
          <a:solidFill>
            <a:srgbClr val="0072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064513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765830" y="2286000"/>
            <a:ext cx="11460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Mechanism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784118" y="3063240"/>
            <a:ext cx="1109428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uncalibrated class prior, three sources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048995" y="3144774"/>
            <a:ext cx="201168" cy="219456"/>
          </a:xfrm>
          <a:prstGeom prst="rightArrow">
            <a:avLst/>
          </a:prstGeom>
          <a:solidFill>
            <a:srgbClr val="B0B7C3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77595" y="1920240"/>
            <a:ext cx="1365460" cy="2577084"/>
          </a:xfrm>
          <a:prstGeom prst="roundRect">
            <a:avLst>
              <a:gd name="adj" fmla="val 66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86005" y="1600200"/>
            <a:ext cx="548640" cy="548640"/>
          </a:xfrm>
          <a:prstGeom prst="ellipse">
            <a:avLst/>
          </a:prstGeom>
          <a:solidFill>
            <a:srgbClr val="0072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686005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10387323" y="2286000"/>
            <a:ext cx="11460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 and limits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10405611" y="3063240"/>
            <a:ext cx="1109428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frontier, decision rule, threats to validity, conclusion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4817364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77240" y="4817364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corpora, same items, same scorer — two evaluation protocols, opposite rankings.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task, and the field's headline: 'essentially solved'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1417320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requirement statements to categories: functional (FR) vs non-functional (NFR); security-relevant vs not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41728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4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60704" y="2114296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early risk identification and architectural choice; wrong: rework propagating downstream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38704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838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" y="2811272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waves: indicator terms (2007) → engineered features → fine-tuned transformers (NoRBERT) → prompted LLMs (2024)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535680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535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60704" y="3508248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encoders, commercial LLMs, well-prompted small open models all report high-80s to mid-90s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232656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3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" y="4205224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studies conclude prompting can replace supervision outright (Binkhonain &amp; Alfayaz 2025; Tang et al. 2025)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01000" y="1417320"/>
            <a:ext cx="3642055" cy="120396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138160" y="1527048"/>
            <a:ext cx="3367735" cy="66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2163775"/>
            <a:ext cx="3367735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 of automation since 2007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01000" y="2849880"/>
            <a:ext cx="3642055" cy="120396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138160" y="2959608"/>
            <a:ext cx="3367735" cy="66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80s – mid 90s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3596335"/>
            <a:ext cx="3367735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macro-F1 / accuracy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01000" y="4282440"/>
            <a:ext cx="3642055" cy="120396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138160" y="4392168"/>
            <a:ext cx="3367735" cy="66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5028895"/>
            <a:ext cx="3367735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generative LLMs take over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thesis asks whether that headline survives when the evaluation convention behind it is changed.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evaluation gap: what the field does not measure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1417320"/>
            <a:ext cx="10582351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result is in-distribution: tuned or exemplars selected on the corpus it is scored 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93824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893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60704" y="1866392"/>
            <a:ext cx="10582351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'Generalisability' in prior work means transfer across tasks on the same corpora — not unseen projects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590800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590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" y="2563368"/>
            <a:ext cx="10582351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NoRBERT itself was motivated by classifiers over-fitting project-specific wording — a fragility then left unmeasured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287776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287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60704" y="3260344"/>
            <a:ext cx="10582351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app-review study tests different text: markedly lower precision, an unexplained signal never followed up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984752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98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" y="3957320"/>
            <a:ext cx="10582351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latency and model size seldom quantified — yet they decide adoptability without an API budget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433824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433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" y="4406392"/>
            <a:ext cx="10582351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two or three small, ageing public corpora everywhere — contamination acknowledged, never addressed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423408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42340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In-distribution parity is exactly what contamination and corpus reuse would produce spuriously — the settling comparison had not been run.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coverage of recent LLM studies (2024–2026)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6436"/>
                <a:gridCol w="1597596"/>
                <a:gridCol w="1597596"/>
                <a:gridCol w="1597596"/>
                <a:gridCol w="1597596"/>
                <a:gridCol w="1597596"/>
              </a:tblGrid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LLMs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Comm. LLMs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El-Hajjami et al.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et al.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Binkhonain &amp; Alfayaz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Alhoshan et al.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 et al.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Chaudhary et al.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Vasudevan et al.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Levy et al.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566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'Cross-project' = held-out unseen projects; 'cross-dataset' = an independently produced corpus; ~ = partially reported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study reports cross-project or cross-dataset transfer together with cost; this paper reports all five axes.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research questions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1417320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How do open and commercial LLMs compare with fine-tuned encoders in-domain?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41728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4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60704" y="2114296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— How much is lost cross-project and cross-dataset, and does the loss differ by model class?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38704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838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" y="2811272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— What is the accuracy-versus-cost trade-off, and the cheapest freely available option that is good enough?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535680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535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60704" y="3508248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hold corpus, items, label sets and scoring rule fixed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232656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3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" y="4205224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only the distribution shift between what a model is tuned on and scored 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01000" y="1417320"/>
            <a:ext cx="3642055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138160" y="1527048"/>
            <a:ext cx="3367735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2239366"/>
            <a:ext cx="3367735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01000" y="2971800"/>
            <a:ext cx="3642055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138160" y="3081528"/>
            <a:ext cx="3367735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3793846"/>
            <a:ext cx="3367735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variable: distribution shift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222240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22224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reproduces the field's convention; RQ2 repairs the first omission (shift); RQ3 repairs the second (cost).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contributions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1417320"/>
            <a:ext cx="10582351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Paired, multiplicity-controlled benchmark: 12 configurations, 3 tasks, 2 corpora, 3 regimes; 76,115 predictions; 260 McNemar tests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41728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4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60704" y="2114296"/>
            <a:ext cx="10582351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inversion: 67 wins / 39 ties / 0 losses in-domain → 3 / 13 / 48 cross-dataset; best encoder −42.8%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38704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838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" y="2811272"/>
            <a:ext cx="10582351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Mechanism: base-rate shift, not lexical novelty — precision collapses, recall holds; prompted models share it (ρ = 0.95)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535680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535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60704" y="3508248"/>
            <a:ext cx="10582351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Accuracy–cost frontier: $0.0024 vs $0.0216–$0.1132 per 1,000; training repaid within 46–552 items, all 276 pairings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525264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525264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ranking a benchmark reports is a property of the regime it evaluates, not of the models.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326880" y="-1097280"/>
            <a:ext cx="4754880" cy="4754880"/>
          </a:xfrm>
          <a:prstGeom prst="ellipse">
            <a:avLst/>
          </a:prstGeom>
          <a:solidFill>
            <a:srgbClr val="0072B2">
              <a:alpha val="30000"/>
            </a:srgbClr>
          </a:solidFill>
          <a:ln w="12700">
            <a:solidFill>
              <a:srgbClr val="0072B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0" y="3291840"/>
            <a:ext cx="3108960" cy="3108960"/>
          </a:xfrm>
          <a:prstGeom prst="ellipse">
            <a:avLst/>
          </a:prstGeom>
          <a:solidFill>
            <a:srgbClr val="E69F00">
              <a:alpha val="30000"/>
            </a:srgbClr>
          </a:solidFill>
          <a:ln w="12700">
            <a:solidFill>
              <a:srgbClr val="E69F00">
                <a:alpha val="3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I — Study design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 spine, two model arms, one strict scoring spine — and a regime axis only the encoders traverse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1508760"/>
            <a:ext cx="1490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PROMISE_exp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969 → 968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projects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" y="2697480"/>
            <a:ext cx="1490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SecReq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→ 444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specifications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205740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32304" y="2057400"/>
            <a:ext cx="1490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corpus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1,412 requirements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project groups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duplicates dropped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205740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61104" y="2057400"/>
            <a:ext cx="1490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splits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families, 107 folds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SHA-256-pinned ids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E3EEF7"/>
          </a:solidFill>
          <a:ln w="19050">
            <a:solidFill>
              <a:srgbClr val="0072B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81344" y="1371600"/>
            <a:ext cx="1764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arm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RoBERTa ± weighting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re-fitted per regime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78892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BF1DC"/>
          </a:solidFill>
          <a:ln w="19050">
            <a:solidFill>
              <a:srgbClr val="E69F0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6181344" y="2788920"/>
            <a:ext cx="1764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arm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LLMs, 3 tiers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 and few-shot, never fitted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1920240"/>
            <a:ext cx="1600200" cy="128016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84464" y="1920240"/>
            <a:ext cx="1490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scoring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test items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unparseable = wrong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76,115 predictions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81 of 87 cells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12680" y="1920240"/>
            <a:ext cx="1783080" cy="128016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67544" y="1920240"/>
            <a:ext cx="1673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+ bootstrap CI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 paired McNemar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Holm &amp; BH, α = 0.05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N* = C0 / Δc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48840" y="1965960"/>
            <a:ext cx="228600" cy="41148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2148840" y="2743200"/>
            <a:ext cx="228600" cy="41148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977640" y="2560320"/>
            <a:ext cx="228600" cy="91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5806440" y="1847088"/>
            <a:ext cx="320040" cy="621792"/>
          </a:xfrm>
          <a:prstGeom prst="line">
            <a:avLst/>
          </a:prstGeom>
          <a:noFill/>
          <a:ln w="15875">
            <a:solidFill>
              <a:srgbClr val="0072B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806440" y="2651760"/>
            <a:ext cx="320040" cy="621792"/>
          </a:xfrm>
          <a:prstGeom prst="line">
            <a:avLst/>
          </a:prstGeom>
          <a:noFill/>
          <a:ln w="15875">
            <a:solidFill>
              <a:srgbClr val="E69F00"/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001000" y="1847088"/>
            <a:ext cx="228600" cy="438912"/>
          </a:xfrm>
          <a:prstGeom prst="line">
            <a:avLst/>
          </a:prstGeom>
          <a:noFill/>
          <a:ln w="15875">
            <a:solidFill>
              <a:srgbClr val="0072B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8001000" y="2834640"/>
            <a:ext cx="228600" cy="438912"/>
          </a:xfrm>
          <a:prstGeom prst="line">
            <a:avLst/>
          </a:prstGeom>
          <a:noFill/>
          <a:ln w="15875">
            <a:solidFill>
              <a:srgbClr val="E69F00"/>
            </a:solidFill>
            <a:prstDash val="dash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29800" y="2560320"/>
            <a:ext cx="182880" cy="91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8640" y="4142232"/>
            <a:ext cx="11094415" cy="530352"/>
          </a:xfrm>
          <a:prstGeom prst="roundRect">
            <a:avLst>
              <a:gd name="adj" fmla="val 1034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414223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011680" y="414223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5-fold, one corpus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4315968"/>
            <a:ext cx="457200" cy="182880"/>
          </a:xfrm>
          <a:prstGeom prst="rightArrow">
            <a:avLst/>
          </a:prstGeom>
          <a:solidFill>
            <a:srgbClr val="B0B7C3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03520" y="414223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project groups + LOPO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92440" y="4315968"/>
            <a:ext cx="457200" cy="182880"/>
          </a:xfrm>
          <a:prstGeom prst="rightArrow">
            <a:avLst/>
          </a:prstGeom>
          <a:solidFill>
            <a:srgbClr val="B0B7C3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95360" y="414223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PROMISE_exp ↔ test SecReq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716975" y="38496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distribution shift →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6928" y="4992624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77824" y="4892040"/>
            <a:ext cx="10765231" cy="248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spine: PROMISE_exp 969→968 (47 projects) + SecReq 510→444 (3 specifications) → 1,412 requirements, 50 groups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66928" y="5387467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77824" y="5286883"/>
            <a:ext cx="10765231" cy="248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splits: 14 families, 107 folds, seed 42, SHA-256-pinned ids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48640" y="5669280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7240" y="566928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band beneath the figure — in-domain → cross-project → cross-dataset — is the study's independent variable.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Corpus: 1,412 requirements with a three-fold base-rate contrast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6436"/>
                <a:gridCol w="1597596"/>
                <a:gridCol w="1597596"/>
                <a:gridCol w="1597596"/>
                <a:gridCol w="1597596"/>
                <a:gridCol w="1597596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 / NFR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prevalence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PROMISE_exp (Lima et al. 2019)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444 / 524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SecReq (Knauss et al. 2011)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444 / 524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298094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 normalised, exact duplicates removed — 67 rows, none shared between corpora; SecReq = three industrial security specifications   ·   Splits generated once (seed 42), ids pinned to each source file's SHA-256; consumed, never regenerated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12.9% of PROMISE_exp but 39.9% of SecReq — that contrast, not vocabulary, drives the main result.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task families over one unified corpus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1417320"/>
            <a:ext cx="6528816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FR/NFR — native PROMISE_exp labels (444 FR / 524 NFR)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93824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893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60704" y="1866392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security — native in SecReq, derived from PROMISE_exp's SE sub-class: same task, two independent corpora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590800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590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" y="2563368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 sub-types — eleven-class Cleland-Huang taxonomy, aligned with ISO/IEC 25010 quality characteristics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287776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287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60704" y="3260344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tail classes have single-digit support → reduced top-6 and top-4 variants also evaluated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984752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98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" y="3957320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always over the full declared label set: penalised for every class never predicted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01000" y="1417320"/>
            <a:ext cx="3642055" cy="120396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138160" y="1527048"/>
            <a:ext cx="3367735" cy="66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524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2163775"/>
            <a:ext cx="3367735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items, all-11 sub-types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01000" y="2849880"/>
            <a:ext cx="3642055" cy="120396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138160" y="2959608"/>
            <a:ext cx="3367735" cy="66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433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3596335"/>
            <a:ext cx="3367735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items, top-6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01000" y="4282440"/>
            <a:ext cx="3642055" cy="120396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138160" y="4392168"/>
            <a:ext cx="3367735" cy="66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353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5028895"/>
            <a:ext cx="3367735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items, top-4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the one task both corpora annotate — which is why cross-dataset transfer is measured on it alone.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evaluation regimes of increasing distribution shift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81580" cy="2522855"/>
          </a:xfrm>
          <a:prstGeom prst="roundRect">
            <a:avLst>
              <a:gd name="adj" fmla="val 362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65110" y="1600200"/>
            <a:ext cx="548640" cy="548640"/>
          </a:xfrm>
          <a:prstGeom prst="ellipse">
            <a:avLst/>
          </a:prstGeom>
          <a:solidFill>
            <a:srgbClr val="0072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6511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286000"/>
            <a:ext cx="23621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 splits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3063240"/>
            <a:ext cx="2325548" cy="1242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split families, 107 folds, seed 42; ids pinned to SHA-256 of each source file; stored once, never regenerated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57652" y="3117660"/>
            <a:ext cx="201168" cy="219456"/>
          </a:xfrm>
          <a:prstGeom prst="rightArrow">
            <a:avLst/>
          </a:prstGeom>
          <a:solidFill>
            <a:srgbClr val="B0B7C3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6252" y="1920240"/>
            <a:ext cx="2581580" cy="2522855"/>
          </a:xfrm>
          <a:prstGeom prst="roundRect">
            <a:avLst>
              <a:gd name="adj" fmla="val 362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2722" y="1600200"/>
            <a:ext cx="548640" cy="548640"/>
          </a:xfrm>
          <a:prstGeom prst="ellipse">
            <a:avLst/>
          </a:prstGeom>
          <a:solidFill>
            <a:srgbClr val="0072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02722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95980" y="2286000"/>
            <a:ext cx="23621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In-domain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14268" y="3063240"/>
            <a:ext cx="2325548" cy="1242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cross-validation within one corpus — the in-distribution reference arm prior work reports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95264" y="3117660"/>
            <a:ext cx="201168" cy="219456"/>
          </a:xfrm>
          <a:prstGeom prst="rightArrow">
            <a:avLst/>
          </a:prstGeom>
          <a:solidFill>
            <a:srgbClr val="B0B7C3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23864" y="1920240"/>
            <a:ext cx="2581580" cy="2522855"/>
          </a:xfrm>
          <a:prstGeom prst="roundRect">
            <a:avLst>
              <a:gd name="adj" fmla="val 362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40334" y="1600200"/>
            <a:ext cx="548640" cy="548640"/>
          </a:xfrm>
          <a:prstGeom prst="ellipse">
            <a:avLst/>
          </a:prstGeom>
          <a:solidFill>
            <a:srgbClr val="0072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40334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33592" y="2286000"/>
            <a:ext cx="23621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Cross-project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51880" y="3063240"/>
            <a:ext cx="2325548" cy="1242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folds holding out entire unseen project groups + leave-one-project-out over the 47 PROMISE_exp projects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832875" y="3117660"/>
            <a:ext cx="201168" cy="219456"/>
          </a:xfrm>
          <a:prstGeom prst="rightArrow">
            <a:avLst/>
          </a:prstGeom>
          <a:solidFill>
            <a:srgbClr val="B0B7C3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61475" y="1920240"/>
            <a:ext cx="2581580" cy="2522855"/>
          </a:xfrm>
          <a:prstGeom prst="roundRect">
            <a:avLst>
              <a:gd name="adj" fmla="val 362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77945" y="1600200"/>
            <a:ext cx="548640" cy="548640"/>
          </a:xfrm>
          <a:prstGeom prst="ellipse">
            <a:avLst/>
          </a:prstGeom>
          <a:solidFill>
            <a:srgbClr val="0072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77945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71203" y="2286000"/>
            <a:ext cx="23621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Cross-dataset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189491" y="3063240"/>
            <a:ext cx="2325548" cy="1242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security task on one corpus, test on the other (PROMISE_exp ↔ SecReq): identical labels, different annotation provenance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763135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4763135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items, same labels, same scorer at every station — only the training distribution moves.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 arms, paired on identical items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10048" cy="4069080"/>
          </a:xfrm>
          <a:prstGeom prst="roundRect">
            <a:avLst>
              <a:gd name="adj" fmla="val 2697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 arm — consumes training folds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41248" y="2386584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52144" y="2286000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Re-trained at every station on that station's training folds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" y="3052572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2951988"/>
            <a:ext cx="4577944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is a test item exactly once per encoder family — predictions cover the whole corpus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41248" y="3950970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52144" y="3850386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and RoBERTa, with and without inverse-frequency class weighting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4616958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52144" y="4516374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drop across regimes is the measured quantity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33008" y="1417320"/>
            <a:ext cx="5410048" cy="4069080"/>
          </a:xfrm>
          <a:prstGeom prst="roundRect">
            <a:avLst>
              <a:gd name="adj" fmla="val 2697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07328" y="160020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A6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Prompted arm — consumes only test items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525616" y="2386584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36512" y="2286000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distribution → scores regime-invariant by construction: a fixed reference line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25616" y="3052572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36512" y="2951988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samples of the same corpus: 300 items per binary cell, 200 per sub-type cell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25616" y="3718560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36512" y="3617976"/>
            <a:ext cx="4577944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in proportion to class prior, floor of ten per class; six local models also answer full frames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25616" y="4616958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36512" y="4516374"/>
            <a:ext cx="4577944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LLMs in 3 tiers; zero- and few-shot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encoder–LLM comparison is paired on identical requirements, aligned by requirement identifier — never by position.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twelve configurations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6436"/>
                <a:gridCol w="2662660"/>
                <a:gridCol w="2662660"/>
                <a:gridCol w="2662660"/>
              </a:tblGrid>
              <a:tr h="32835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 / 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 (B)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(w / 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bert-base-uncased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 (w / 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roberta-base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Gemma-2-2B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gemma-2-2b-it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4-bit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SmolLM3-3B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SmolLM3-3B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4-bit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Qwen2.5-3B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Qwen2.5-3B-Instruct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4-bit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Phi-4-mini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Phi-4-mini-instruct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4-bit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Qwen2.5-7B-Instruct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4-bit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Llama-3.1-8B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Llama-3.1-8B-Instruct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4-bit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Llama-3.3-70B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llama-3.3-70b-versatile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3.1 Flash-Lite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gemini-3.1-flash-lite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566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tier: six instruction-tuned models, 2.6–8.0 B, one free-tier NVIDIA T4, 4-bit NF4; hosted and commercial via free API tiers   ·   A ninth prompted model failed the reportability gate — kept in the raw store, enters no table; Gemini's size undisclosed, recorded as unknown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fine-tuned encoder variants + 8 prompted LLMs (6 local, 1 hosted, 1 commercial) = 12 configurations.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 arm: fine-tuning setup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1417320"/>
            <a:ext cx="6528816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bert-base-uncased and roberta-base with a classification head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93824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893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60704" y="1866392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learning rate 2×10⁻⁵, batch 16, max length 128, linear decay without warmup, full precision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590800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590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" y="2563368"/>
            <a:ext cx="6528816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epochs on the binary tasks, 10 on the sub-types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039872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039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60704" y="3012440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'w' = inverse-frequency (balanced) class weighting in the loss; 'u' = unweighted control on the security task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736848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736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" y="3709416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Re-fitted per regime on that regime's training folds; one seed per configuration (see threats)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01000" y="1417320"/>
            <a:ext cx="3642055" cy="120396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138160" y="1527048"/>
            <a:ext cx="3367735" cy="66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 B / 0.13 B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2163775"/>
            <a:ext cx="3367735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parameters, BERT / RoBERTa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01000" y="2849880"/>
            <a:ext cx="3642055" cy="120396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138160" y="2959608"/>
            <a:ext cx="3367735" cy="66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≈277 GPU-seconds</a:t>
            </a:r>
            <a:endParaRPr lang="en-US" sz="25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3596335"/>
            <a:ext cx="3367735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time, all folds of a family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01000" y="4282440"/>
            <a:ext cx="3642055" cy="120396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138160" y="4392168"/>
            <a:ext cx="3367735" cy="66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$0.0093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5028895"/>
            <a:ext cx="3367735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one-off fine-tuning cost per deployable model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fine-tuning is negligible: a 110 M-parameter encoder costs under a cent to train.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Prompted arm: the base instruction, verbatim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766560" cy="3840480"/>
          </a:xfrm>
          <a:prstGeom prst="roundRect">
            <a:avLst>
              <a:gd name="adj" fmla="val 190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08760"/>
            <a:ext cx="6309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classifying a software requirement.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Decide whether it is a FUNCTIONAL requirement (FR) -- something the system must DO -- or a NON-FUNCTIONAL requirement (NFR) -- a quality, constraint or property such as performance, security or usability.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with exactly one word: "FR" or "NFR".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&lt;few-shot conditions only&gt;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Requirement: """&lt;exemplar&gt;"""        Answer: FR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k class-balanced exemplars, carved out before the evaluation frames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classify this one: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"""&lt;the requirement under test&gt;"""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3492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of the paper — the terse and verbose phrasings vary only the instruction block; the one-word answer contract is identical.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699248" y="1563624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10144" y="1463040"/>
            <a:ext cx="3632911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instruction: names the task, enumerates the labels, demands exactly one word — sent as one user message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99248" y="2322576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10144" y="2221992"/>
            <a:ext cx="3632911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decoding — temperature 0, at most twelve new tokens; the only stochastic element is item sampling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99248" y="3081528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10144" y="2980944"/>
            <a:ext cx="3632911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deterministic, class-balanced exemplars — k ∈ {2, 4, 8} total on binary, k ∈ {1, 2} per class on sub-types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99248" y="3840480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10144" y="3739896"/>
            <a:ext cx="3632911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Exemplars carved out before the evaluation frames are formed — an exemplar is never also a test item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99248" y="4599432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10144" y="4498848"/>
            <a:ext cx="3632911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Sub-studies vary one factor: phrasing (base / terse / verbose) or the few-shot ladder; hosted and commercial run zero-shot only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contract — exactly one word — is identical across all three phrasings and is what the strict parser enforces.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parsing: an unusable answer is not a free pass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014057" cy="2716530"/>
          </a:xfrm>
          <a:prstGeom prst="roundRect">
            <a:avLst>
              <a:gd name="adj" fmla="val 454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1349" y="1600200"/>
            <a:ext cx="548640" cy="548640"/>
          </a:xfrm>
          <a:prstGeom prst="ellipse">
            <a:avLst/>
          </a:prstGeom>
          <a:solidFill>
            <a:srgbClr val="0072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1349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286000"/>
            <a:ext cx="17946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Reply generated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3063240"/>
            <a:ext cx="1758025" cy="143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Greedy, ≤ 12 new tokens, one-word contract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90129" y="3214497"/>
            <a:ext cx="201168" cy="219456"/>
          </a:xfrm>
          <a:prstGeom prst="rightArrow">
            <a:avLst/>
          </a:prstGeom>
          <a:solidFill>
            <a:srgbClr val="B0B7C3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18729" y="1920240"/>
            <a:ext cx="2014057" cy="2716530"/>
          </a:xfrm>
          <a:prstGeom prst="roundRect">
            <a:avLst>
              <a:gd name="adj" fmla="val 454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1438" y="1600200"/>
            <a:ext cx="548640" cy="548640"/>
          </a:xfrm>
          <a:prstGeom prst="ellipse">
            <a:avLst/>
          </a:prstGeom>
          <a:solidFill>
            <a:srgbClr val="0072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5143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28457" y="2286000"/>
            <a:ext cx="17946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Leading label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46745" y="3063240"/>
            <a:ext cx="1758025" cy="143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reply begins with a label (word-boundary aware) → that label wins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60219" y="3214497"/>
            <a:ext cx="201168" cy="219456"/>
          </a:xfrm>
          <a:prstGeom prst="rightArrow">
            <a:avLst/>
          </a:prstGeom>
          <a:solidFill>
            <a:srgbClr val="B0B7C3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88819" y="1920240"/>
            <a:ext cx="2014057" cy="2716530"/>
          </a:xfrm>
          <a:prstGeom prst="roundRect">
            <a:avLst>
              <a:gd name="adj" fmla="val 454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21528" y="1600200"/>
            <a:ext cx="548640" cy="548640"/>
          </a:xfrm>
          <a:prstGeom prst="ellipse">
            <a:avLst/>
          </a:prstGeom>
          <a:solidFill>
            <a:srgbClr val="0072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2152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98547" y="2286000"/>
            <a:ext cx="17946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Single mention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216835" y="3063240"/>
            <a:ext cx="1758025" cy="143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exactly one label named anywhere in the reply → that label wins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130308" y="3214497"/>
            <a:ext cx="201168" cy="219456"/>
          </a:xfrm>
          <a:prstGeom prst="rightArrow">
            <a:avLst/>
          </a:prstGeom>
          <a:solidFill>
            <a:srgbClr val="B0B7C3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58908" y="1920240"/>
            <a:ext cx="2014057" cy="2716530"/>
          </a:xfrm>
          <a:prstGeom prst="roundRect">
            <a:avLst>
              <a:gd name="adj" fmla="val 454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1617" y="1600200"/>
            <a:ext cx="548640" cy="548640"/>
          </a:xfrm>
          <a:prstGeom prst="ellipse">
            <a:avLst/>
          </a:prstGeom>
          <a:solidFill>
            <a:srgbClr val="0072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91617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68636" y="2286000"/>
            <a:ext cx="17946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Both or neither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86924" y="3063240"/>
            <a:ext cx="1758025" cy="143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names both labels or none → unparseable, scored as WRONG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400398" y="3214497"/>
            <a:ext cx="201168" cy="219456"/>
          </a:xfrm>
          <a:prstGeom prst="rightArrow">
            <a:avLst/>
          </a:prstGeom>
          <a:solidFill>
            <a:srgbClr val="B0B7C3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28998" y="1920240"/>
            <a:ext cx="2014057" cy="2716530"/>
          </a:xfrm>
          <a:prstGeom prst="roundRect">
            <a:avLst>
              <a:gd name="adj" fmla="val 454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61706" y="1600200"/>
            <a:ext cx="548640" cy="548640"/>
          </a:xfrm>
          <a:prstGeom prst="ellipse">
            <a:avLst/>
          </a:prstGeom>
          <a:solidFill>
            <a:srgbClr val="0072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61706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738726" y="2286000"/>
            <a:ext cx="17946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Repair pass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757014" y="3063240"/>
            <a:ext cx="1758025" cy="143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 at generation time and in an idempotent pass over archived raw outputs → stored and scored never diverge silently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4956810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495681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Harsher than lenient prior protocols, matching deployment — yet the parser accepted 99.98% of the phrasing sub-study's 11,518 responses.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Metrics, uncertainty, and the reportability gate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27048"/>
            <a:ext cx="3271418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76,115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7869"/>
            <a:ext cx="3271418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scored under one rule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2978" y="141732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60138" y="1527048"/>
            <a:ext cx="3271418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 of 87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460138" y="2607869"/>
            <a:ext cx="3271418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pass the reportability gate (6 excluded, not imputed)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97317" y="141732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34477" y="1527048"/>
            <a:ext cx="3271418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8234477" y="2607869"/>
            <a:ext cx="3271418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bootstrap resamples, seed 42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39312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60704" y="3611880"/>
            <a:ext cx="10582351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 macro-F1 over the declared label set; weighted F1 and accuracy alongside; baselines through the same scorer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05300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3053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" y="4277868"/>
            <a:ext cx="10582351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resamples drawn within each true class — no resample can lose a rare class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738878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7388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" y="4711446"/>
            <a:ext cx="10582351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per cell (model × task × dataset × regime): every class ≥ 5 items, cell ≥ 40 items, ≥ 50% parsed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172456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172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" y="5145024"/>
            <a:ext cx="10582351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24,280 encoder + 35,049 prompted binary + 16,786 prompted sub-type predictions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cells are excluded, never imputed — no reported number rests on a cell the model could not actually answer.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 significance: 260 exact McNemar tests, one family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27048"/>
            <a:ext cx="3271418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260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7869"/>
            <a:ext cx="3271418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two-sided McNemar tests (encoder–LLM pairs)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2978" y="141732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60138" y="1527048"/>
            <a:ext cx="3271418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 / 170 / 131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460138" y="2607869"/>
            <a:ext cx="3271418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raw / after Benjamini–Hochberg / after Holm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97317" y="141732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34477" y="1527048"/>
            <a:ext cx="3271418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 + 90 + 64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234477" y="2607869"/>
            <a:ext cx="3271418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 + cross-project + cross-dataset = 260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39312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60704" y="3611880"/>
            <a:ext cx="10582351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= one encoder–LLM pair on all items they share, aligned by requirement identifier, over paired disagreements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05300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3053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" y="4277868"/>
            <a:ext cx="10582351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test per item — one test per encoder–LLM pair within a cell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738878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7388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" y="4711446"/>
            <a:ext cx="10582351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260 corrected as one family, Holm and Benjamini–Hochberg at α = 0.05; verdicts keyed on BH-adjusted p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172456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172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" y="5145024"/>
            <a:ext cx="10582351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/ ties / losses always stated from the encoder's side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ranking claim rests on exact, paired, family-corrected tests — not on point-estimate ordering.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model: what a classification costs and when training pays back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1417320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row records tokens, wall-clock latency and, for encoders, training time — prices frozen at generation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41728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4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60704" y="2114296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compute priced as imputed rental of the benchmark GPU: AWS g4dn.xlarge, one NVIDIA T4, $0.5260/h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38704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838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" y="2811272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list rates per million input/output tokens: Gemini 3.1 Flash-Lite $0.25/$1.50; Llama-3.3-70B $0.59/$0.79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535680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535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60704" y="3508248"/>
            <a:ext cx="6528816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cost separates one-off fine-tuning C₀ from marginal per-item cost c_enc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232656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3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" y="4205224"/>
            <a:ext cx="6528816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latency dominated by provider queueing → projections use per-request median; queue-inflated mean reported separately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01000" y="1417320"/>
            <a:ext cx="3642055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138160" y="1527048"/>
            <a:ext cx="3367735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N* = C₀ / (c_alt − c_enc)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2239366"/>
            <a:ext cx="3367735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classifications after which fine-tuning is repaid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01000" y="2971800"/>
            <a:ext cx="3642055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138160" y="3081528"/>
            <a:ext cx="3367735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$0.5260 / h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3793846"/>
            <a:ext cx="3367735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T4 rental (AWS g4dn.xlarge, on demand)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470144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470144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N* is a pure cost crossover — how many classifications repay training, regardless of the accuracy gap.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326880" y="-1097280"/>
            <a:ext cx="4754880" cy="4754880"/>
          </a:xfrm>
          <a:prstGeom prst="ellipse">
            <a:avLst/>
          </a:prstGeom>
          <a:solidFill>
            <a:srgbClr val="0072B2">
              <a:alpha val="30000"/>
            </a:srgbClr>
          </a:solidFill>
          <a:ln w="12700">
            <a:solidFill>
              <a:srgbClr val="0072B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0" y="3291840"/>
            <a:ext cx="3108960" cy="3108960"/>
          </a:xfrm>
          <a:prstGeom prst="ellipse">
            <a:avLst/>
          </a:prstGeom>
          <a:solidFill>
            <a:srgbClr val="E69F00">
              <a:alpha val="30000"/>
            </a:srgbClr>
          </a:solidFill>
          <a:ln w="12700">
            <a:solidFill>
              <a:srgbClr val="E69F00">
                <a:alpha val="3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II — Results: RQ1 and RQ2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reproduce the convention — then move the training distribution and watch the ranking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 — In-domain macro-F1, all twelve configurations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6436"/>
                <a:gridCol w="1331330"/>
                <a:gridCol w="1331330"/>
                <a:gridCol w="1331330"/>
                <a:gridCol w="1331330"/>
                <a:gridCol w="1331330"/>
                <a:gridCol w="1331330"/>
              </a:tblGrid>
              <a:tr h="2778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FR/NFR PROMISE_exp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PROMISE_exp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SecReq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Sub-types top-4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Sub-types top-6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Sub-types all-11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BERT_w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BERT_u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RoBERTa_w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RoBERTa_u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3.1 Flash-Lite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Llama-3.3-70B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Llama-3.1-8B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Gemma-2-2B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Phi-4-mini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SmolLM3-3B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Qwen2.5-3B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85207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Majority-class baseline 0.351 / 0.466 / 0.376 / 0.131 / 0.075 / 0.035 — every reportable model clears it; '—' = below gate or not run   ·   Encoder cells: 5-fold CV over all items (n = 968, 968, 444, 353, 433, 524); prompted cells: stratified samples of the same items (n = 59–960)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post the best score in 5 of 6 columns; the one prompted lead (Qwen2.5-7B 0.846 vs 0.836, SecReq) never reaches significance: McNemar p = 0.696, BH 0.774.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 qualified — scale does not order the results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7406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93608" y="1563624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04504" y="1463040"/>
            <a:ext cx="3038551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2.6 B Gemma-2-2B beats the hosted 70 B model on PROMISE_exp security (0.900 vs 0.891)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93608" y="2415540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04504" y="2314956"/>
            <a:ext cx="3038551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open models collapse on FR/NFR (0.554–0.727) while remaining competitive on security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93608" y="3267456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04504" y="3166872"/>
            <a:ext cx="3038551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advantage widens with the label set: +0.014 top-4, +0.013 top-6, +0.095 all-11 — supervision buys the long tail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93608" y="4336288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04504" y="4235704"/>
            <a:ext cx="3038551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check: top-4 recomputed on the 59 items every model answered — best encoder still leads +0.036 (0.966 vs 0.930)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ordering is neither an artefact of coverage nor a function of parameter count — and the FR/NFR 'collapse' will turn out to be a prior problem (Part III).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 verdict — in-domain, encoders win 67 of 106 and lose none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27048"/>
            <a:ext cx="232783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7869"/>
            <a:ext cx="2327834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 paired McNemar tests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79394" y="1417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16554" y="1527048"/>
            <a:ext cx="232783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516554" y="2607869"/>
            <a:ext cx="2327834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wins (BH-significant)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0148" y="1417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47308" y="1527048"/>
            <a:ext cx="232783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347308" y="2607869"/>
            <a:ext cx="2327834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(inconclusive)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40901" y="1417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78061" y="1527048"/>
            <a:ext cx="232783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6" name="Text 14"/>
          <p:cNvSpPr txBox="1"/>
          <p:nvPr/>
        </p:nvSpPr>
        <p:spPr>
          <a:xfrm>
            <a:off x="9178061" y="2607869"/>
            <a:ext cx="2327834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losses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39312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" y="3611880"/>
            <a:ext cx="10582351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keyed on the BH-adjusted p within the single 260-test family (Holm and BH, alpha = 0.05)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072890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072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" y="4045458"/>
            <a:ext cx="10582351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 the encoders are never significantly beaten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506468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5064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" y="4479036"/>
            <a:ext cx="10582351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commercial arm at n ≈ 60 per cell, 23 of its 26 comparisons inconclusive — partly limited power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5232654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232654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under the field's own convention, supervision still wins.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 (a) — Cross-project transfer is survivable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6436"/>
                <a:gridCol w="1996995"/>
                <a:gridCol w="1996995"/>
                <a:gridCol w="1996995"/>
                <a:gridCol w="1996995"/>
              </a:tblGrid>
              <a:tr h="2778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— corpus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In-domain macro-F1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Cross-project macro-F1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— PROMISE_exp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BERT_w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— PROMISE_exp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RoBERTa_w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— SecReq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BERT_w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— SecReq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RoBERTa_w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FR/NFR — PROMISE_exp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BERT_w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FR/NFR — PROMISE_exp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RoBERTa_w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Sub-types top-4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BERT_w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Sub-types top-4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RoBERTa_w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Sub-types top-6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BERT_w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Sub-types top-6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RoBERTa_w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Sub-types all-11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BERT_w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78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Sub-types all-11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RoBERTa_w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85207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projects cost the encoders 3–12% on PROMISE_exp and up to 30% on the much smaller SecReq   ·   Paired verdict: encoders ahead or tied in 76 of 90 cross-project tests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degradation NoRBERT anticipated — real but moderate.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 (b) — Cross-dataset transfer reverses the ranking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7406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93608" y="1563624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04504" y="1463040"/>
            <a:ext cx="3038551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BERT: 0.923 → 0.528 on the very same items once trained on SecReq — a loss of 42.8%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93608" y="2632456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04504" y="2531872"/>
            <a:ext cx="3038551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more robust: 0.902 → 0.698 (−23%); reverse direction milder: −17% (BERT_w), −16% (RoBERTa_w)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93608" y="3701288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04504" y="3600704"/>
            <a:ext cx="3038551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models, tuning on nothing, move only with corpus difficulty: −0.034 to +0.163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93608" y="4553204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04504" y="4452620"/>
            <a:ext cx="3038551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applies only to security — the one task both corpora annotate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64 cross-dataset tests prompted models win 48, encoders 3, ties 13 — in-domain 67–39–0 becomes 3–13–48.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inversion, in metric and in verdict form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tmp/claude-0/-home-user-MSc-/90d44d07-44da-5964-965d-2befe343db3a/scratchpad/deck/figs/fig_inver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71600"/>
            <a:ext cx="676656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82128" y="1563624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93024" y="1463040"/>
            <a:ext cx="3450031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Security on identical PROMISE_exp items: encoders start above all eight prompted models, then fall through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882128" y="2415540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3024" y="2314956"/>
            <a:ext cx="3450031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In-domain: 106 tests → encoders 67 wins / 39 ties / 0 losses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882128" y="3050540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93024" y="2949956"/>
            <a:ext cx="3450031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Cross-project: 90 tests → encoders ahead or tied in 76 of 90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882128" y="3685540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93024" y="3584956"/>
            <a:ext cx="3450031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Cross-dataset: 64 tests → encoders 3 wins / 13 ties / 48 losses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882128" y="4320540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93024" y="4219956"/>
            <a:ext cx="3450031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+ 90 + 64 = 260 exact McNemar tests — one Holm/BH family, split by encoder regime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— the loss differs sharply by model class; the ranking is a property of the regime, not of the models.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scores hide per-project failure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27048"/>
            <a:ext cx="232783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7869"/>
            <a:ext cx="2327834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PROMISE_exp projects with comparable coverage (leave-one-project-out, FR/NFR)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79394" y="1417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16554" y="1527048"/>
            <a:ext cx="232783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 and 1.000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16554" y="2607869"/>
            <a:ext cx="2327834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configuration has at least one project at each extreme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0148" y="1417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47308" y="1527048"/>
            <a:ext cx="232783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0.917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347308" y="2607869"/>
            <a:ext cx="2327834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median macro-F1 across projects (s.d. 0.198)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40901" y="1417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78061" y="1527048"/>
            <a:ext cx="232783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0.545–0.750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9178061" y="2607869"/>
            <a:ext cx="2327834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open models' medians (s.d. 0.213–0.301)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39312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" y="3611880"/>
            <a:ext cx="10582351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Leave-one-project-out arm over the 47 PROMISE_exp projects; 37 have comparable coverage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072890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072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" y="4045458"/>
            <a:ext cx="10582351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and prompted alike — every configuration has a project it scores 0.000 on and one at 1.000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506468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5064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" y="4479036"/>
            <a:ext cx="10582351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middle of the distribution separates the two families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5232654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232654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corpus-level average is a weak predictor of what a practitioner meets on their own project.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326880" y="-1097280"/>
            <a:ext cx="4754880" cy="4754880"/>
          </a:xfrm>
          <a:prstGeom prst="ellipse">
            <a:avLst/>
          </a:prstGeom>
          <a:solidFill>
            <a:srgbClr val="0072B2">
              <a:alpha val="30000"/>
            </a:srgbClr>
          </a:solidFill>
          <a:ln w="12700">
            <a:solidFill>
              <a:srgbClr val="0072B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0" y="3291840"/>
            <a:ext cx="3108960" cy="3108960"/>
          </a:xfrm>
          <a:prstGeom prst="ellipse">
            <a:avLst/>
          </a:prstGeom>
          <a:solidFill>
            <a:srgbClr val="E69F00">
              <a:alpha val="30000"/>
            </a:srgbClr>
          </a:solidFill>
          <a:ln w="12700">
            <a:solidFill>
              <a:srgbClr val="E69F00">
                <a:alpha val="3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III — Mechanism: one failure mode, three sources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 alone does not say why a model fails — unfamiliar vocabulary and shifted class priors imply different fixes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mechanism is base-rate shift, not unfamiliar vocabulary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tmp/claude-0/-home-user-MSc-/90d44d07-44da-5964-965d-2befe343db3a/scratchpad/deck/figs/fig_prior_shif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71600"/>
            <a:ext cx="676656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82128" y="1563624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93024" y="1463040"/>
            <a:ext cx="3450031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Transferred BERT labels 44.2% of PROMISE_exp items security — true prevalence 12.9%, training-corpus prior 39.9%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882128" y="2632456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3024" y="2531872"/>
            <a:ext cx="3450031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Security-class precision collapses 0.847 → 0.210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882128" y="3267456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93024" y="3166872"/>
            <a:ext cx="3450031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Recall falls far less, 0.888 → 0.720 — it still finds them; it cannot stop finding them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882128" y="4119372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93024" y="4018788"/>
            <a:ext cx="3450031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Prompted models: same defect, other source — FR/NFR accuracy ranks with prior miscalibration (ρ = 0.95)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signature of prior shift, not of a model that has failed to understand the text.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as measured: not uniform — and prior shift is correctable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10048" cy="4030218"/>
          </a:xfrm>
          <a:prstGeom prst="roundRect">
            <a:avLst>
              <a:gd name="adj" fmla="val 226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256032" cy="256032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155448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not fit the simple story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1248" y="2295144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52144" y="2194560"/>
            <a:ext cx="4577944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carries less source prior across: 19.7% predicted vs 12.9% true — and loses less accuracy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" y="3193542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52144" y="3092958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direction (train PROMISE_exp → test SecReq): both encoders predict below target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1248" y="3859530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52144" y="3758946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33.6% and 29.1% predicted security vs 39.9% true — content differences contribute there too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41248" y="4525518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52144" y="4424934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claim: the largest collapse's dominant term is a prior the model brought with it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33008" y="1417320"/>
            <a:ext cx="5410048" cy="4030218"/>
          </a:xfrm>
          <a:prstGeom prst="roundRect">
            <a:avLst>
              <a:gd name="adj" fmla="val 226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61608" y="1645920"/>
            <a:ext cx="256032" cy="256032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27368" y="155448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diagnosis is encouraging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25616" y="2295144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36512" y="2194560"/>
            <a:ext cx="4577944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shift is correctable: threshold or prior adjustment (Saerens et al. 2002; Quiñonero-Candela et al. 2009)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25616" y="3193542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36512" y="3092958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 adjustment needs no labels from the target corpus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25616" y="3859530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36512" y="3758946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it would change the quantity measured — transfer as it happens today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25616" y="4525518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36512" y="4424934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left as the obvious next step: future work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the asymmetry rather than smoothing it; the claim is scoped to the dominant term of the largest collapse.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Prompted models mis-set the same prior — from a different source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27048"/>
            <a:ext cx="232783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54.2%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7869"/>
            <a:ext cx="2327834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NFR share on FR/NFR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79394" y="1417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16554" y="1527048"/>
            <a:ext cx="232783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14.9%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516554" y="2607869"/>
            <a:ext cx="2327834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 predicted by Qwen2.5-3B — the lowest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0148" y="1417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47308" y="1527048"/>
            <a:ext cx="232783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43.4%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347308" y="2607869"/>
            <a:ext cx="2327834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 predicted by Llama-3.3-70B — the highest, still below truth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40901" y="1417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78061" y="1527048"/>
            <a:ext cx="232783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0.95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178061" y="2607869"/>
            <a:ext cx="2327834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rank correlation, accuracy vs miscalibration, eight reportable models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39312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" y="3611880"/>
            <a:ext cx="10582351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prompted model predicts NFR far less often than the true share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072890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072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" y="4045458"/>
            <a:ext cx="10582351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open models' FR/NFR 'collapse' is a systematic bias toward FR, not an inability to read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506468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5064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" y="4479036"/>
            <a:ext cx="10582351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defect as the transferred encoder, acquired from pre-training rather than a training corpus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5232654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232654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Miscalibration of the class prior explains most of the prompted models' FR/NFR error.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Re-wording the question moves the prior — the link is causal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7406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93608" y="1563624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04504" y="1463040"/>
            <a:ext cx="3038551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paired model × task cells: median base/terse/verbose spread only 0.044 — extreme 0.485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93608" y="2415540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04504" y="2314956"/>
            <a:ext cx="3038551" cy="1139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Terse is the only leading yes/no phrasing: Gemma-2-2B answers security for 96.7% of SecReq, 51.3% of PROMISE_exp (true 39.7%, 12.7%)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93608" y="3701288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04504" y="3600704"/>
            <a:ext cx="3038551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 shifts the same way but less far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93608" y="4336288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04504" y="4235704"/>
            <a:ext cx="3038551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formatting artefact: the strict parser accepted 99.98% of 11,518 responses — well-formed, simply wrong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Rewording the question re-set the model's prior exactly as re-training on another corpus re-set the encoder's (cf. Zhao et al. 2021; Lu et al. 2022).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helps precisely where the exemplars carry prior information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10048" cy="3998976"/>
          </a:xfrm>
          <a:prstGeom prst="roundRect">
            <a:avLst>
              <a:gd name="adj" fmla="val 228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256032" cy="256032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155448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tasks (FR/NFR, security) — 54 comparisons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1248" y="2295144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52144" y="2194560"/>
            <a:ext cx="4577944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effect −0.007 macro-F1 — net negative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" y="2728722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52144" y="2628138"/>
            <a:ext cx="4577944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 BH-significant effects average −0.027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1248" y="3162300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52144" y="3061716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a familiar convention: the model already has a prior, examples mostly perturb it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41248" y="3828288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52144" y="3727704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 et al.'s over-prompting effect, reproduced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41248" y="4494276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52144" y="4393692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∈ {2, 4, 8} exemplars in total, class-balanced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33008" y="1417320"/>
            <a:ext cx="5410048" cy="3998976"/>
          </a:xfrm>
          <a:prstGeom prst="roundRect">
            <a:avLst>
              <a:gd name="adj" fmla="val 228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1608" y="1645920"/>
            <a:ext cx="256032" cy="256032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27368" y="155448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NFR sub-types — 36 comparisons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25616" y="2295144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36512" y="2194560"/>
            <a:ext cx="4577944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effect +0.062 — uniformly positive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25616" y="2728722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36512" y="2628138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BH-significant effects are gains, averaging +0.114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25616" y="3394710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36512" y="3294126"/>
            <a:ext cx="4577944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unfamiliar eleven-class taxonomy: the exemplars are the only statement of what the classes are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525616" y="4293108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36512" y="4192524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∈ {1, 2} per class, carved out before the frames — never a test item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paired comparisons on the six local models — the only tier that ran few-shot — median gain +0.024; the sign is decided by whether exemplars supply a missing prior.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defect, three sources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10048" cy="4069080"/>
          </a:xfrm>
          <a:prstGeom prst="roundRect">
            <a:avLst>
              <a:gd name="adj" fmla="val 2697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encoder — prior from the training corpus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41248" y="2386584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52144" y="2286000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Transferred BERT: 44.2% security predicted vs 12.9% true (source prior 39.9%)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" y="3052572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2951988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precision 0.847 → 0.210 while recall 0.888 → 0.720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41248" y="3718560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52144" y="3617976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0.923 → 0.528 macro-F1 on identical items (−42.8%)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4384548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52144" y="4283964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Remedy implied: label-free prior / threshold adjustment (future work)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33008" y="1417320"/>
            <a:ext cx="5410048" cy="4069080"/>
          </a:xfrm>
          <a:prstGeom prst="roundRect">
            <a:avLst>
              <a:gd name="adj" fmla="val 2697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07328" y="160020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A6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Prompted LLM — prior from pre-training and from the wording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525616" y="2386584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36512" y="2286000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2, pre-training: NFR predicted 14.9%–43.4% vs 54.2% true; ρ = 0.95 with accuracy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25616" y="3052572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36512" y="2951988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3, wording: terse phrasing → security for 96.7% of SecReq items; spread up to 0.485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25616" y="3718560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36512" y="3617976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well-formed answers (99.98% parsed), wrong prior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25616" y="4384548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36512" y="4283964"/>
            <a:ext cx="4577944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Remedy implied: exemplars help only where they carry the prior (sub-types +0.114; binary −0.027)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needs a class prior that cannot be read off the text; each approach acquires one somewhere it should not — so neither is safe to deploy on an in-distribution score alone.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 — The accuracy–cost frontier: encoders 9–47× cheaper, training repaid within 46–552 items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tmp/claude-0/-home-user-MSc-/90d44d07-44da-5964-965d-2befe343db3a/scratchpad/deck/figs/fig_co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71600"/>
            <a:ext cx="676656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82128" y="1563624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93024" y="1463040"/>
            <a:ext cx="3450031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inference $0.0024 per 1,000 classifications vs $0.0216–$0.1132 prompted: 9–47×, 18× at medians (prompted median $0.0439)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82128" y="2322576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3024" y="2221992"/>
            <a:ext cx="3450031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fine-tuning negligible: median $0.0093 per deployable model, about 277 GPU-seconds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82128" y="3081528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93024" y="2980944"/>
            <a:ext cx="3450031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N* over all 276 encoder-vs-alternative pairings: 46–552 items, median 215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82128" y="3654552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93024" y="3553968"/>
            <a:ext cx="3450031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frontier: 10 cells, 9 encoders; the single prompted point is 4-bit Qwen2.5-7B on SecReq security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82128" y="4413504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93024" y="4312920"/>
            <a:ext cx="3450031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+0.011 macro-F1 for ≈19× the cost per item: strongest free fallback where transfer is measured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what makes the transfer finding a real trade-off rather than a verdict.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 — Cost and latency by tier</a:t>
            </a:r>
            <a:endParaRPr lang="en-US" sz="3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6436"/>
                <a:gridCol w="1996995"/>
                <a:gridCol w="1996995"/>
                <a:gridCol w="1996995"/>
                <a:gridCol w="1996995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per 1,000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latency 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(USD)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 encoder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Open-weight, local (4-bit)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0.0312–0.0522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0.194–0.356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Open-weight, hosted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3649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latency: encoders 0.016 s; hosted 70 B 0.095 s (fastest prompted tier); local 0.19–0.36 s; commercial 0.61 s   ·   Free-tier queueing inflates the hosted means by up to two orders of magnitude — all projections use medians   ·   Table shows per-model figures by tier; the $0.0216–$0.1132 range on the previous slide spans all reportable prompted cells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behaves differently from cost: the hosted 70 B is the fastest prompted tier, the commercial API the slowest.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Discussion: the regime is part of the claim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10048" cy="4069080"/>
          </a:xfrm>
          <a:prstGeom prst="roundRect">
            <a:avLst>
              <a:gd name="adj" fmla="val 224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256032" cy="256032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155448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regime is part of the claim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1248" y="2295144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52144" y="2194560"/>
            <a:ext cx="4577944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'Which is better?' flips between two protocols the literature treats as interchangeable — same items, same scorer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1248" y="3147060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52144" y="3046476"/>
            <a:ext cx="4577944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in-distribution-only benchmark is not a weaker version of one reporting transfer; it can report the opposite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" y="3998976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52144" y="3898392"/>
            <a:ext cx="4577944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Requirements-classification results should state the regime as part of the claim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1248" y="4633976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52144" y="4533392"/>
            <a:ext cx="4577944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'Generalisation' should mean held-out projects or independent corpora, not transfer across tasks on one dataset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33008" y="1417320"/>
            <a:ext cx="5410048" cy="4069080"/>
          </a:xfrm>
          <a:prstGeom prst="roundRect">
            <a:avLst>
              <a:gd name="adj" fmla="val 224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61608" y="1645920"/>
            <a:ext cx="256032" cy="256032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27368" y="155448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Contamination cuts in our favour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25616" y="2295144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36512" y="2194560"/>
            <a:ext cx="4577944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corpora are old, small and public → prompted in-domain scores may be inflated by pre-training contamination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25616" y="3193542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36512" y="3092958"/>
            <a:ext cx="4577944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bias overstates the prompted models in-domain — exactly where we report encoders winning → conservative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25616" y="4091940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36512" y="3991356"/>
            <a:ext cx="4577944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produce the cross-dataset reversal: it would help the prompted models in both regimes equally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consequential finding is not that one model class is better — it is that the answer depends on the regime.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decision rule for practitioners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10048" cy="4069080"/>
          </a:xfrm>
          <a:prstGeom prst="roundRect">
            <a:avLst>
              <a:gd name="adj" fmla="val 2697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 a 110 M-parameter encoder when…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41248" y="2386584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52144" y="2286000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hold a few hundred labelled requirements from the domain you will operate in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" y="3052572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2951988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non-trivial volume: training repaid within 46–552 items (median 215)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41248" y="3718560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52144" y="3617976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accurate in-domain (67 wins, 0 losses) and by far the cheapest ($0.0024 per 1,000)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4384548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52144" y="4283964"/>
            <a:ext cx="4577944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is stable and labelled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33008" y="1417320"/>
            <a:ext cx="5410048" cy="4069080"/>
          </a:xfrm>
          <a:prstGeom prst="roundRect">
            <a:avLst>
              <a:gd name="adj" fmla="val 2697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07328" y="160020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A6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a mid-size quantised open model when…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525616" y="2386584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36512" y="2286000"/>
            <a:ext cx="4577944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an unlabelled or shifting domain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25616" y="2820162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36512" y="2719578"/>
            <a:ext cx="4577944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up in-domain accuracy but degrades gracefully: prompted scores move only −0.034 to +0.163 across corpora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25616" y="3718560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36512" y="3617976"/>
            <a:ext cx="4577944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free on one consumer-class GPU (4-bit on a free-tier T4)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25616" y="4384548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36512" y="4283964"/>
            <a:ext cx="4577944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free fallback where transfer is measured: 4-bit Qwen2.5-7B (0.846 on SecReq security)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option is the implicit default of much recent work — fine-tuning on one corpus and assuming the result transfers.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 to validity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861408"/>
                <a:gridCol w="4861408"/>
              </a:tblGrid>
              <a:tr h="3740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/ 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352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arm at n ≈ 60 per cell; 23 of 26 paired comparisons inconclusive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'Never significantly beaten' partly reflects limited power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Free-tier quotas → missing-not-at-random dropout on some hosted configurations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excludes affected cells rather than imputing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models ran 4-bit quantised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understate full-precision 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seed per 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encoder-to-encoder margins not over-read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cost imputed from a published rental rate; token prices are 2026 list prices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Ratios more durable than absolutes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N* is a pure cost crossover; human annotation cost excluded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Favours the encoder — stated explicitly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scoring counts format non-compliance as 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deployment; differs from lenient protocols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label sets differ: PROMISE_exp from the SE sub-class (non-functional by construction); SecReq any security-relevant sentence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Cross-dataset carries definitional as well as distributional shift, on one corpus pair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 small, dated, public; English requirements; one NFR taxonomy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of the claims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Multiplicity; split regeneration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paired tests exact, corrected as one family; splits stored once (grouped-fold membership is library-version dependent)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limitation is either bounded by the design (gate, one-family correction, frozen splits) or reported with its direction stated — including where it favours us.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27048"/>
            <a:ext cx="232783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76,115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7869"/>
            <a:ext cx="2327834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under one strict rule; 260 paired tests corrected as one family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79394" y="1417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16554" y="1527048"/>
            <a:ext cx="232783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67–39–0 → 3–13–48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16554" y="2607869"/>
            <a:ext cx="2327834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wins–ties–losses, in-domain → cross-dataset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0148" y="1417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47308" y="1527048"/>
            <a:ext cx="232783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42.8%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347308" y="2607869"/>
            <a:ext cx="2327834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lost by the best in-domain encoder on identical items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40901" y="1417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78061" y="1527048"/>
            <a:ext cx="2327834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9–47×</a:t>
            </a:r>
            <a:endParaRPr lang="en-US" sz="3800" dirty="0"/>
          </a:p>
        </p:txBody>
      </p:sp>
      <p:sp>
        <p:nvSpPr>
          <p:cNvPr id="16" name="Text 14"/>
          <p:cNvSpPr txBox="1"/>
          <p:nvPr/>
        </p:nvSpPr>
        <p:spPr>
          <a:xfrm>
            <a:off x="9178061" y="2607869"/>
            <a:ext cx="2327834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cheaper per 1,000 classifications; training repaid within 46–552 items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39312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" y="3611880"/>
            <a:ext cx="10582351" cy="27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 encoders are never significantly beaten; across corpora prompted models win 48 of 64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057396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0573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" y="4029964"/>
            <a:ext cx="10582351" cy="27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families carry an uncalibrated class prior — from the training corpus, or from pre-training and wording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475480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475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" y="4448048"/>
            <a:ext cx="10582351" cy="27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protocols the field treats as interchangeable return opposite rankings from the same data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893564"/>
            <a:ext cx="310896" cy="31089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8935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" y="4866132"/>
            <a:ext cx="10582351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pipeline, frozen splits, prediction store, regeneration scripts — every number reproduces without re-running a model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650992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650992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in-distribution score is not a partial answer, it can be the wrong one — so fine-tune for a stable labelled domain, and prompt when the distribution moves.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914400"/>
            <a:ext cx="3108960" cy="3108960"/>
          </a:xfrm>
          <a:prstGeom prst="ellipse">
            <a:avLst/>
          </a:prstGeom>
          <a:solidFill>
            <a:srgbClr val="0072B2">
              <a:alpha val="75000"/>
            </a:srgbClr>
          </a:solidFill>
          <a:ln w="12700">
            <a:solidFill>
              <a:srgbClr val="0072B2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2377440"/>
            <a:ext cx="2743200" cy="2743200"/>
          </a:xfrm>
          <a:prstGeom prst="ellipse">
            <a:avLst/>
          </a:prstGeom>
          <a:solidFill>
            <a:srgbClr val="E69F00">
              <a:alpha val="70000"/>
            </a:srgbClr>
          </a:solidFill>
          <a:ln w="12700">
            <a:solidFill>
              <a:srgbClr val="E69F00">
                <a:alpha val="7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0392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9264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LLMs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DEFENSE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862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Fatma El-Zahraa Samir · fatmaelzahraasamirabdelfattah@gmail.com · Faculty of Computers and Artificial Intelligence, Cairo University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frozen splits, prediction store and regeneration scripts are public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encoders or prompted LLMs?  ·  The verdict inverts under distribution shift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— anticipated questions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10048" cy="4846320"/>
          </a:xfrm>
          <a:prstGeom prst="roundRect">
            <a:avLst>
              <a:gd name="adj" fmla="val 188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256032" cy="256032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155448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and statistics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1248" y="2295144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52144" y="2194560"/>
            <a:ext cx="4577944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McNemar? Paired on identical items; exact test on the disagreements only — no independence assumption between models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" y="3193542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52144" y="3092958"/>
            <a:ext cx="4577944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260 as one family? Any split into sub-families would make the correction lenient; one family is the conservative choice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1248" y="4091940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52144" y="3991356"/>
            <a:ext cx="4577944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seed? Yes — stated; the headline is a 42.8% drop of the same encoder, not a small encoder-to-encoder margin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41248" y="4990338"/>
            <a:ext cx="128016" cy="12801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52144" y="4889754"/>
            <a:ext cx="4577944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local models? Needed for a free-tier T4; may understate full-precision accuracy — direction stated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33008" y="1417320"/>
            <a:ext cx="5410048" cy="4846320"/>
          </a:xfrm>
          <a:prstGeom prst="roundRect">
            <a:avLst>
              <a:gd name="adj" fmla="val 188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61608" y="1645920"/>
            <a:ext cx="256032" cy="256032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27368" y="155448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Validity and novelty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25616" y="2295144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36512" y="2194560"/>
            <a:ext cx="4577944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Contamination? Would inflate prompted in-domain scores — where encoders win anyway — and cannot produce a cross-dataset reversal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25616" y="3193542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36512" y="3092958"/>
            <a:ext cx="4577944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prior correction? It changes the quantity measured; we measure transfer as practised today — first item of future work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25616" y="4091940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36512" y="3991356"/>
            <a:ext cx="457794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vs Binkhonain &amp; Alfayaz / Tang et al.? They evaluate in-distribution without cost; we add cross-project, cross-dataset and cost on identical items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25616" y="5222748"/>
            <a:ext cx="128016" cy="128016"/>
          </a:xfrm>
          <a:prstGeom prst="ellips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36512" y="5122164"/>
            <a:ext cx="4577944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of the commercial arm? n ≈ 60 per cell, 23 of 26 inconclusive — reported as a limitation, not hidden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Fine-Tuned Encoders or Prompted LLMs for Requirements Classification?</dc:title>
  <dc:subject>PptxGenJS Presentation</dc:subject>
  <dc:creator>Fatma El-Zahraa Samir</dc:creator>
  <cp:lastModifiedBy>Fatma El-Zahraa Samir</cp:lastModifiedBy>
  <cp:revision>1</cp:revision>
  <dcterms:created xsi:type="dcterms:W3CDTF">2026-09-06T08:58:10Z</dcterms:created>
  <dcterms:modified xsi:type="dcterms:W3CDTF">2026-09-06T08:58:10Z</dcterms:modified>
</cp:coreProperties>
</file>